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147482763" r:id="rId2"/>
    <p:sldId id="2147482767" r:id="rId3"/>
    <p:sldId id="2147482768" r:id="rId4"/>
    <p:sldId id="2147482769" r:id="rId5"/>
    <p:sldId id="2147482770" r:id="rId6"/>
    <p:sldId id="2147482771" r:id="rId7"/>
    <p:sldId id="2147482772" r:id="rId8"/>
    <p:sldId id="2147482773" r:id="rId9"/>
    <p:sldId id="2147482774" r:id="rId10"/>
    <p:sldId id="2147482775" r:id="rId11"/>
    <p:sldId id="2147482776" r:id="rId12"/>
    <p:sldId id="2147482777" r:id="rId13"/>
    <p:sldId id="2147482778" r:id="rId14"/>
    <p:sldId id="2147482779" r:id="rId15"/>
    <p:sldId id="2147482780" r:id="rId16"/>
    <p:sldId id="2147482781" r:id="rId17"/>
    <p:sldId id="2147482782" r:id="rId18"/>
    <p:sldId id="2147482783" r:id="rId19"/>
    <p:sldId id="2147482784" r:id="rId20"/>
    <p:sldId id="2147482785" r:id="rId21"/>
    <p:sldId id="2147482786" r:id="rId22"/>
    <p:sldId id="2147482787" r:id="rId23"/>
    <p:sldId id="2147482788" r:id="rId24"/>
    <p:sldId id="2147482789" r:id="rId25"/>
    <p:sldId id="2147482790" r:id="rId26"/>
    <p:sldId id="2147482791" r:id="rId27"/>
    <p:sldId id="2147482792" r:id="rId28"/>
    <p:sldId id="2147482793" r:id="rId29"/>
    <p:sldId id="2147482794" r:id="rId30"/>
    <p:sldId id="2147482795" r:id="rId31"/>
    <p:sldId id="2147482796" r:id="rId32"/>
    <p:sldId id="2147482797" r:id="rId33"/>
    <p:sldId id="2147482798" r:id="rId34"/>
    <p:sldId id="2147482799" r:id="rId35"/>
    <p:sldId id="2147482800" r:id="rId36"/>
    <p:sldId id="2147482801" r:id="rId37"/>
    <p:sldId id="2147482802" r:id="rId38"/>
    <p:sldId id="2147482803" r:id="rId39"/>
    <p:sldId id="214748276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86" autoAdjust="0"/>
  </p:normalViewPr>
  <p:slideViewPr>
    <p:cSldViewPr snapToGrid="0">
      <p:cViewPr varScale="1">
        <p:scale>
          <a:sx n="71" d="100"/>
          <a:sy n="71" d="100"/>
        </p:scale>
        <p:origin x="86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5F0A9-A2F0-4B43-9722-2042F9DD599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5EE8F-5140-E743-B68C-BA749EB3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6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Selamat pagi Bapak dan Ibu. Hari ini saya akan memaparkan hasil stress test solvabilitas perbankan.</a:t>
            </a:r>
          </a:p>
          <a:p>
            <a:r>
              <a:rPr lang="id-ID" dirty="0"/>
              <a:t>Cakupannya 46 bank yang tercatat di bursa, dengan data sampai kuartal II 2026. Pertanyaan yang ingin kita jawab sederhana: kalau ekonomi terkena guncangan berat selama empat kuartal ke depan, apakah modal bank masih cukup untuk menyerap kerugiannya?</a:t>
            </a:r>
          </a:p>
          <a:p>
            <a:r>
              <a:rPr lang="id-ID" dirty="0"/>
              <a:t>Saya akan mulai dari kerangka dan asumsi, lalu model yang dipakai, dan terakhir hasilnya.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Kita mulai dari bagian pertama, kerangka stress test. Di bagian ini saya jelaskan alur besarnya dulu, lalu langkah perhitungan satu per satu.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Terima kasih. Saya buka untuk diskusi dan pertanyaan, terutama soal tiga asumsi judgment dan tindak lanjut verifikasi data BINA dan BCIC.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3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FD2AA19C-6509-DF83-FCAB-F7F3EDE28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90543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5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CDC8AB0D-B544-EBB6-24C9-C63FFCAC8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6976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9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A9CBE551-98BB-BF1B-5947-B898FDA8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B47411E4-DE06-5A3B-3C0D-1AEEBCB5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93" y="18990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0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30E29769-C478-F59E-8968-9D5400DF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23" y="908287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0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5" name="Picture 4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2D7CE29-7999-CB50-102B-9950080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523" y="775777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8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General (Ret.)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Chairman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4E31C-57C8-D551-A268-F7DA56978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340" y="919925"/>
            <a:ext cx="827327" cy="82732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23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pic>
        <p:nvPicPr>
          <p:cNvPr id="8" name="Picture 7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C1BE271-79CB-66D1-5841-930ADB4B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4" y="480468"/>
            <a:ext cx="932765" cy="932765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61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4AC5AEFB-B85E-E2E4-A0E4-13A4A8237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84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7" name="Picture 6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50DCDCFF-84DC-BC15-F045-FEB42C345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99" y="83125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004D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6" y="339868"/>
            <a:ext cx="10440000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4D25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004D25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13" name="Picture 2" descr="green-green Color Palette">
            <a:extLst>
              <a:ext uri="{FF2B5EF4-FFF2-40B4-BE49-F238E27FC236}">
                <a16:creationId xmlns:a16="http://schemas.microsoft.com/office/drawing/2014/main" id="{3C463DAF-48BF-4A94-B2C8-C67E288A8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5240" y="4145"/>
            <a:ext cx="1451531" cy="239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alitra on Twitter | Green color pallete, Green palette, Green colour  palette">
            <a:extLst>
              <a:ext uri="{FF2B5EF4-FFF2-40B4-BE49-F238E27FC236}">
                <a16:creationId xmlns:a16="http://schemas.microsoft.com/office/drawing/2014/main" id="{F7DFD0EB-FDFA-4553-9D6C-A573C5CF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5240" y="2405182"/>
            <a:ext cx="1451531" cy="240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D8293D4-9FFF-44B4-A118-CA52867107CE}"/>
              </a:ext>
            </a:extLst>
          </p:cNvPr>
          <p:cNvGrpSpPr/>
          <p:nvPr/>
        </p:nvGrpSpPr>
        <p:grpSpPr>
          <a:xfrm rot="5400000">
            <a:off x="10427562" y="1910941"/>
            <a:ext cx="4330700" cy="508817"/>
            <a:chOff x="-1047750" y="1733550"/>
            <a:chExt cx="4330700" cy="16954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202A99-D516-47F9-B6F8-8904D0CDC552}"/>
                </a:ext>
              </a:extLst>
            </p:cNvPr>
            <p:cNvSpPr/>
            <p:nvPr/>
          </p:nvSpPr>
          <p:spPr>
            <a:xfrm>
              <a:off x="-1047750" y="1733550"/>
              <a:ext cx="514350" cy="1695450"/>
            </a:xfrm>
            <a:prstGeom prst="rect">
              <a:avLst/>
            </a:prstGeom>
            <a:solidFill>
              <a:srgbClr val="536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96E9C4-D1E5-410D-9B86-CF8CF88091C2}"/>
                </a:ext>
              </a:extLst>
            </p:cNvPr>
            <p:cNvSpPr/>
            <p:nvPr/>
          </p:nvSpPr>
          <p:spPr>
            <a:xfrm>
              <a:off x="383382" y="1733550"/>
              <a:ext cx="514350" cy="1695450"/>
            </a:xfrm>
            <a:prstGeom prst="rect">
              <a:avLst/>
            </a:prstGeom>
            <a:solidFill>
              <a:srgbClr val="A28F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288B7E2-3352-4790-A608-69C7707BCF1A}"/>
                </a:ext>
              </a:extLst>
            </p:cNvPr>
            <p:cNvSpPr/>
            <p:nvPr/>
          </p:nvSpPr>
          <p:spPr>
            <a:xfrm>
              <a:off x="1814514" y="1733550"/>
              <a:ext cx="514350" cy="1695450"/>
            </a:xfrm>
            <a:prstGeom prst="rect">
              <a:avLst/>
            </a:prstGeom>
            <a:solidFill>
              <a:srgbClr val="8786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D1628A-37C7-453B-BDB8-4A7C1AC4CD4C}"/>
                </a:ext>
              </a:extLst>
            </p:cNvPr>
            <p:cNvSpPr/>
            <p:nvPr/>
          </p:nvSpPr>
          <p:spPr>
            <a:xfrm>
              <a:off x="-570706" y="1733550"/>
              <a:ext cx="514350" cy="1695450"/>
            </a:xfrm>
            <a:prstGeom prst="rect">
              <a:avLst/>
            </a:prstGeom>
            <a:solidFill>
              <a:srgbClr val="069B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F6EB5B-76B1-495A-AB22-2BEBAE926796}"/>
                </a:ext>
              </a:extLst>
            </p:cNvPr>
            <p:cNvSpPr/>
            <p:nvPr/>
          </p:nvSpPr>
          <p:spPr>
            <a:xfrm>
              <a:off x="860426" y="1733550"/>
              <a:ext cx="514350" cy="1695450"/>
            </a:xfrm>
            <a:prstGeom prst="rect">
              <a:avLst/>
            </a:prstGeom>
            <a:solidFill>
              <a:srgbClr val="ADA7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54F186-6BF3-4FC9-964A-EF8C1D91C862}"/>
                </a:ext>
              </a:extLst>
            </p:cNvPr>
            <p:cNvSpPr/>
            <p:nvPr/>
          </p:nvSpPr>
          <p:spPr>
            <a:xfrm>
              <a:off x="2291558" y="1733550"/>
              <a:ext cx="514350" cy="1695450"/>
            </a:xfrm>
            <a:prstGeom prst="rect">
              <a:avLst/>
            </a:prstGeom>
            <a:solidFill>
              <a:srgbClr val="6D5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E412FC-6188-4284-A98D-2D59FC5AFA7D}"/>
                </a:ext>
              </a:extLst>
            </p:cNvPr>
            <p:cNvSpPr/>
            <p:nvPr/>
          </p:nvSpPr>
          <p:spPr>
            <a:xfrm>
              <a:off x="-93662" y="1733550"/>
              <a:ext cx="514350" cy="1695450"/>
            </a:xfrm>
            <a:prstGeom prst="rect">
              <a:avLst/>
            </a:prstGeom>
            <a:solidFill>
              <a:srgbClr val="004D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64F913-3169-4F15-B447-A0CFCB57A6CD}"/>
                </a:ext>
              </a:extLst>
            </p:cNvPr>
            <p:cNvSpPr/>
            <p:nvPr/>
          </p:nvSpPr>
          <p:spPr>
            <a:xfrm>
              <a:off x="1337470" y="1733550"/>
              <a:ext cx="514350" cy="1695450"/>
            </a:xfrm>
            <a:prstGeom prst="rect">
              <a:avLst/>
            </a:prstGeom>
            <a:solidFill>
              <a:srgbClr val="E8CF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AAEC2D0-6995-47E6-AC0F-0BAC543CAAB3}"/>
                </a:ext>
              </a:extLst>
            </p:cNvPr>
            <p:cNvSpPr/>
            <p:nvPr/>
          </p:nvSpPr>
          <p:spPr>
            <a:xfrm>
              <a:off x="2768600" y="1733550"/>
              <a:ext cx="514350" cy="1695450"/>
            </a:xfrm>
            <a:prstGeom prst="rect">
              <a:avLst/>
            </a:prstGeom>
            <a:solidFill>
              <a:srgbClr val="E24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rgbClr val="53676A"/>
                </a:solidFill>
              </a:endParaRPr>
            </a:p>
          </p:txBody>
        </p:sp>
      </p:grpSp>
      <p:pic>
        <p:nvPicPr>
          <p:cNvPr id="2" name="Google Shape;3109;p3">
            <a:extLst>
              <a:ext uri="{FF2B5EF4-FFF2-40B4-BE49-F238E27FC236}">
                <a16:creationId xmlns:a16="http://schemas.microsoft.com/office/drawing/2014/main" id="{9C4F64E8-2544-80FF-F309-F9B43DA7E8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5010" y="263704"/>
            <a:ext cx="744467" cy="744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238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pic>
        <p:nvPicPr>
          <p:cNvPr id="8" name="Picture 7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C1BE271-79CB-66D1-5841-930ADB4B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617" y="861857"/>
            <a:ext cx="932765" cy="9327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Ketua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91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Ketua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8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DEN_Tim EKonomi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Tim Ekonomi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2868567" y="4256313"/>
            <a:ext cx="645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Sekretaris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Eksekutif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/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Anggota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3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Jend. TNI (Purn)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Luhut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B.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Pandjaitan</a:t>
            </a:r>
            <a:endParaRPr lang="en-US" sz="16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Chair of the 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Economic Assessment Team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National Economic Council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9DB9D557-3373-B3AB-54A9-3224F95295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29799" y="828623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3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Title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FD2AA19C-6509-DF83-FCAB-F7F3EDE28B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490543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4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le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2" y="164879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CDC8AB0D-B544-EBB6-24C9-C63FFCAC8D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46976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2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A9CBE551-98BB-BF1B-5947-B898FDA8C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3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B47411E4-DE06-5A3B-3C0D-1AEEBCB53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7593" y="189900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202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_DEN_b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30E29769-C478-F59E-8968-9D5400DFFF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22723" y="908287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_DEN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ECONOMIC COUNCIL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REPUBLIC OF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75000"/>
                  </a:schemeClr>
                </a:solidFill>
                <a:latin typeface="Arial Nova" panose="020B0504020202020204" pitchFamily="34" charset="0"/>
              </a:rPr>
              <a:t>THANK YOU</a:t>
            </a:r>
          </a:p>
        </p:txBody>
      </p:sp>
      <p:pic>
        <p:nvPicPr>
          <p:cNvPr id="5" name="Picture 4" descr="A white circle with a gold eagle and a star&#10;&#10;Description automatically generated">
            <a:extLst>
              <a:ext uri="{FF2B5EF4-FFF2-40B4-BE49-F238E27FC236}">
                <a16:creationId xmlns:a16="http://schemas.microsoft.com/office/drawing/2014/main" id="{02D7CE29-7999-CB50-102B-995008068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88523" y="775777"/>
            <a:ext cx="932400" cy="9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9D7D42D8-047F-A9F8-8F06-04BEA6C2FA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2389" y="83613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07707" y="624850"/>
            <a:ext cx="8814405" cy="6441610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3" name="Picture 2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DAF5E05D-2BA8-05CF-7B78-67751F7A4F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84" y="684071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_Mar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6E334B8-DAB2-7D47-B987-5E224A19FEDE}"/>
              </a:ext>
            </a:extLst>
          </p:cNvPr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029AD-ED50-D64D-AB11-000C5AE57D64}"/>
              </a:ext>
            </a:extLst>
          </p:cNvPr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F3114A-4B8C-4476-9BD8-6FE14A305178}"/>
              </a:ext>
            </a:extLst>
          </p:cNvPr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AB41AF6-B055-4A80-BF10-0CB584A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D7F3E-7C28-4AAD-AFD8-67BBF4508B9A}"/>
              </a:ext>
            </a:extLst>
          </p:cNvPr>
          <p:cNvSpPr txBox="1">
            <a:spLocks/>
          </p:cNvSpPr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88F5FB7-4D5A-44F2-88B4-9D61645A7BFE}" type="slidenum">
              <a:rPr lang="en-ID" sz="1000" smtClean="0"/>
              <a:pPr algn="ctr"/>
              <a:t>‹#›</a:t>
            </a:fld>
            <a:endParaRPr lang="en-ID" sz="1000"/>
          </a:p>
        </p:txBody>
      </p:sp>
      <p:pic>
        <p:nvPicPr>
          <p:cNvPr id="2" name="Picture 1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D18EAC92-4BBB-90DF-C2B3-2CA051E52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1793" y="22410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03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Garu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4518-EB04-F120-F2CB-EA369F1A4096}"/>
              </a:ext>
            </a:extLst>
          </p:cNvPr>
          <p:cNvSpPr/>
          <p:nvPr userDrawn="1"/>
        </p:nvSpPr>
        <p:spPr>
          <a:xfrm>
            <a:off x="58723" y="-258737"/>
            <a:ext cx="12192000" cy="6929336"/>
          </a:xfrm>
          <a:prstGeom prst="rect">
            <a:avLst/>
          </a:prstGeom>
          <a:gradFill flip="none" rotWithShape="1">
            <a:gsLst>
              <a:gs pos="55000">
                <a:schemeClr val="bg1">
                  <a:alpha val="76608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20A5B-48EA-D5CF-5DCC-F19CFA3CB8C3}"/>
              </a:ext>
            </a:extLst>
          </p:cNvPr>
          <p:cNvSpPr txBox="1"/>
          <p:nvPr userDrawn="1"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>
                <a:solidFill>
                  <a:schemeClr val="accent6">
                    <a:lumMod val="50000"/>
                  </a:schemeClr>
                </a:solidFill>
                <a:latin typeface="Arial Nova" panose="020B0504020202020204" pitchFamily="34" charset="0"/>
              </a:rPr>
              <a:t>TERIMA KASIH</a:t>
            </a:r>
          </a:p>
        </p:txBody>
      </p:sp>
      <p:pic>
        <p:nvPicPr>
          <p:cNvPr id="5" name="Picture 4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828A12D5-3800-1FCD-DDD3-9C6A6B8707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63999" y="83125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9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_DEN_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5A149-7E68-9F1A-41FE-950430F29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effectLst/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A95C3A-439A-1DA0-6542-801CF6067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07256" y="-844487"/>
            <a:ext cx="3177488" cy="11746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5DFB2-E030-3B1A-6144-3BF9EA90E2DC}"/>
              </a:ext>
            </a:extLst>
          </p:cNvPr>
          <p:cNvSpPr txBox="1"/>
          <p:nvPr userDrawn="1"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DEWAN EKONOMI NASIONAL</a:t>
            </a:r>
          </a:p>
          <a:p>
            <a:pPr algn="ctr"/>
            <a:r>
              <a:rPr lang="nn-NO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REPUBLIK INDONESIA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EE1A4B-408C-60B4-1C21-43D3AD2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6B07C4-F4F2-F786-5386-371F1DB8D5F8}"/>
              </a:ext>
            </a:extLst>
          </p:cNvPr>
          <p:cNvCxnSpPr/>
          <p:nvPr userDrawn="1"/>
        </p:nvCxnSpPr>
        <p:spPr>
          <a:xfrm>
            <a:off x="2234985" y="4091054"/>
            <a:ext cx="794437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1D71CB-D15A-455E-70CD-9D7DA1FFA81E}"/>
              </a:ext>
            </a:extLst>
          </p:cNvPr>
          <p:cNvSpPr txBox="1"/>
          <p:nvPr userDrawn="1"/>
        </p:nvSpPr>
        <p:spPr>
          <a:xfrm>
            <a:off x="2868567" y="4256313"/>
            <a:ext cx="645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Direktorat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Eksekutif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Bidang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Strategi dan </a:t>
            </a:r>
            <a:r>
              <a:rPr lang="en-US" sz="1600" b="1" err="1">
                <a:solidFill>
                  <a:schemeClr val="bg1"/>
                </a:solidFill>
                <a:latin typeface="Arial Nova" panose="020B0504020202020204" pitchFamily="34" charset="0"/>
              </a:rPr>
              <a:t>Kebijakan</a:t>
            </a: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 Ekonomi  </a:t>
            </a:r>
            <a:b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1600" b="1">
                <a:solidFill>
                  <a:schemeClr val="bg1"/>
                </a:solidFill>
                <a:latin typeface="Arial Nova" panose="020B0504020202020204" pitchFamily="34" charset="0"/>
              </a:rPr>
              <a:t>Dewan Ekonomi Nasional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C31975-EAF8-5F8A-C1D3-B60BFB768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pic>
        <p:nvPicPr>
          <p:cNvPr id="4" name="Picture 3" descr="A white circle with a gold eagle and black text&#10;&#10;Description automatically generated">
            <a:extLst>
              <a:ext uri="{FF2B5EF4-FFF2-40B4-BE49-F238E27FC236}">
                <a16:creationId xmlns:a16="http://schemas.microsoft.com/office/drawing/2014/main" id="{0281931D-3DE5-CEE5-19CF-D3EBE0C99E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3999" y="90828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7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4D562-F104-47E4-9811-644E23B2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6BFE-8D25-0AAE-1D35-79914737B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5AD6-F3EF-7F41-FF35-C5B5E0DCD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D"/>
              <a:t>20 Oktober 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9A3C6-23C9-93EE-A339-9E8646133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4A5AB-40AF-8CF3-582C-EC9451C88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A242A-DC7A-4F17-BDA9-7A721769C4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80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2DCC-E1A6-8F28-EE4F-94315200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600">
                <a:solidFill>
                  <a:srgbClr val="FFFFFF"/>
                </a:solidFill>
              </a:rPr>
              <a:t>Simulasi Rupiah</a:t>
            </a:r>
            <a:br>
              <a:rPr lang="id-ID" sz="2600">
                <a:solidFill>
                  <a:srgbClr val="FFFFFF"/>
                </a:solidFill>
              </a:rPr>
            </a:br>
            <a:r>
              <a:rPr lang="id-ID" sz="2600">
                <a:solidFill>
                  <a:srgbClr val="FFFFFF"/>
                </a:solidFill>
              </a:rPr>
              <a:t>Forecast dan Skenario USD/IDR</a:t>
            </a:r>
            <a:endParaRPr lang="id-ID" sz="2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B5D71-861B-89D2-BFAC-5CCE6765D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/>
              <a:t>BMA untuk baseline, BVARX untuk efek skenario</a:t>
            </a:r>
          </a:p>
          <a:p>
            <a:r>
              <a:rPr lang="da-DK"/>
              <a:t>Data bulanan 2013–Sep 2026  |  Horizon 6 bulan  |  Oktober 2026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0158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59B6-764D-99DB-A5EB-C4622720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Outline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17A2FE-109F-7D70-94F2-593D7177D70B}"/>
              </a:ext>
            </a:extLst>
          </p:cNvPr>
          <p:cNvCxnSpPr/>
          <p:nvPr/>
        </p:nvCxnSpPr>
        <p:spPr>
          <a:xfrm>
            <a:off x="5588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754C3C-E2E5-C603-0032-E3CC669052E0}"/>
              </a:ext>
            </a:extLst>
          </p:cNvPr>
          <p:cNvSpPr txBox="1"/>
          <p:nvPr/>
        </p:nvSpPr>
        <p:spPr>
          <a:xfrm>
            <a:off x="5588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E2C33-B7D3-DEA2-3214-1A7FFBC12117}"/>
              </a:ext>
            </a:extLst>
          </p:cNvPr>
          <p:cNvSpPr txBox="1"/>
          <p:nvPr/>
        </p:nvSpPr>
        <p:spPr>
          <a:xfrm>
            <a:off x="5588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Kerangka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A3846-2207-A0CC-167E-3DDB57B263C1}"/>
              </a:ext>
            </a:extLst>
          </p:cNvPr>
          <p:cNvSpPr txBox="1"/>
          <p:nvPr/>
        </p:nvSpPr>
        <p:spPr>
          <a:xfrm>
            <a:off x="5588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it-IT" sz="1250">
                <a:solidFill>
                  <a:srgbClr val="262626"/>
                </a:solidFill>
                <a:latin typeface="Arial" panose="020B0604020202020204" pitchFamily="34" charset="0"/>
              </a:rPr>
              <a:t>Alur dari data ke baseline dan skenario</a:t>
            </a:r>
            <a:endParaRPr lang="en-ID" sz="12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822D94-F9CE-AB5F-EDAC-2D98F755B861}"/>
              </a:ext>
            </a:extLst>
          </p:cNvPr>
          <p:cNvCxnSpPr/>
          <p:nvPr/>
        </p:nvCxnSpPr>
        <p:spPr>
          <a:xfrm>
            <a:off x="24257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DC1455-1BC6-D6DE-634A-487707120C98}"/>
              </a:ext>
            </a:extLst>
          </p:cNvPr>
          <p:cNvSpPr txBox="1"/>
          <p:nvPr/>
        </p:nvSpPr>
        <p:spPr>
          <a:xfrm>
            <a:off x="24257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5C903-C71A-64DC-D43D-41561480DDF2}"/>
              </a:ext>
            </a:extLst>
          </p:cNvPr>
          <p:cNvSpPr txBox="1"/>
          <p:nvPr/>
        </p:nvSpPr>
        <p:spPr>
          <a:xfrm>
            <a:off x="24257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Data dan literatur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86982-3972-3D6E-EAB6-638106A12D1B}"/>
              </a:ext>
            </a:extLst>
          </p:cNvPr>
          <p:cNvSpPr txBox="1"/>
          <p:nvPr/>
        </p:nvSpPr>
        <p:spPr>
          <a:xfrm>
            <a:off x="24257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250">
                <a:solidFill>
                  <a:srgbClr val="262626"/>
                </a:solidFill>
                <a:latin typeface="Arial" panose="020B0604020202020204" pitchFamily="34" charset="0"/>
              </a:rPr>
              <a:t>Variabel, transformasi, dan landasan literatur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A0735F-EA5B-69BC-4647-50649115A259}"/>
              </a:ext>
            </a:extLst>
          </p:cNvPr>
          <p:cNvCxnSpPr/>
          <p:nvPr/>
        </p:nvCxnSpPr>
        <p:spPr>
          <a:xfrm>
            <a:off x="42926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4A3627-75EC-AFE2-D24E-A31E11F918F6}"/>
              </a:ext>
            </a:extLst>
          </p:cNvPr>
          <p:cNvSpPr txBox="1"/>
          <p:nvPr/>
        </p:nvSpPr>
        <p:spPr>
          <a:xfrm>
            <a:off x="42926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2AF14-556C-2107-7C21-DC007B0066D7}"/>
              </a:ext>
            </a:extLst>
          </p:cNvPr>
          <p:cNvSpPr txBox="1"/>
          <p:nvPr/>
        </p:nvSpPr>
        <p:spPr>
          <a:xfrm>
            <a:off x="42926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BMA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AE030-33E5-3FED-7548-19B8C113A482}"/>
              </a:ext>
            </a:extLst>
          </p:cNvPr>
          <p:cNvSpPr txBox="1"/>
          <p:nvPr/>
        </p:nvSpPr>
        <p:spPr>
          <a:xfrm>
            <a:off x="42926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it-IT" sz="1250">
                <a:solidFill>
                  <a:srgbClr val="262626"/>
                </a:solidFill>
                <a:latin typeface="Arial" panose="020B0604020202020204" pitchFamily="34" charset="0"/>
              </a:rPr>
              <a:t>Baseline: 64 model dirata-rata dengan bobot posterior</a:t>
            </a:r>
            <a:endParaRPr lang="en-ID" sz="12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B6C34B-249D-3985-3C96-01DB209042EE}"/>
              </a:ext>
            </a:extLst>
          </p:cNvPr>
          <p:cNvCxnSpPr/>
          <p:nvPr/>
        </p:nvCxnSpPr>
        <p:spPr>
          <a:xfrm>
            <a:off x="61595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489B980-F072-A32B-5208-8B2A04B4DA82}"/>
              </a:ext>
            </a:extLst>
          </p:cNvPr>
          <p:cNvSpPr txBox="1"/>
          <p:nvPr/>
        </p:nvSpPr>
        <p:spPr>
          <a:xfrm>
            <a:off x="61595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44332-30D7-17DC-8FB8-00F927082687}"/>
              </a:ext>
            </a:extLst>
          </p:cNvPr>
          <p:cNvSpPr txBox="1"/>
          <p:nvPr/>
        </p:nvSpPr>
        <p:spPr>
          <a:xfrm>
            <a:off x="61595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BVARX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7AE0BC-1F77-11EF-6595-289A8491148B}"/>
              </a:ext>
            </a:extLst>
          </p:cNvPr>
          <p:cNvSpPr txBox="1"/>
          <p:nvPr/>
        </p:nvSpPr>
        <p:spPr>
          <a:xfrm>
            <a:off x="61595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250">
                <a:solidFill>
                  <a:srgbClr val="262626"/>
                </a:solidFill>
                <a:latin typeface="Arial" panose="020B0604020202020204" pitchFamily="34" charset="0"/>
              </a:rPr>
              <a:t>Efek skenario DXY, trade balance, dan flows</a:t>
            </a:r>
            <a:endParaRPr lang="en-ID" sz="12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2EA896-78BE-C54F-6C3C-8B5499A6762A}"/>
              </a:ext>
            </a:extLst>
          </p:cNvPr>
          <p:cNvCxnSpPr/>
          <p:nvPr/>
        </p:nvCxnSpPr>
        <p:spPr>
          <a:xfrm>
            <a:off x="80264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B1FB2D-FA39-6DE1-AC44-7BB07C4FB708}"/>
              </a:ext>
            </a:extLst>
          </p:cNvPr>
          <p:cNvSpPr txBox="1"/>
          <p:nvPr/>
        </p:nvSpPr>
        <p:spPr>
          <a:xfrm>
            <a:off x="80264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94CFF-3F92-2C96-2613-5176023B6B8A}"/>
              </a:ext>
            </a:extLst>
          </p:cNvPr>
          <p:cNvSpPr txBox="1"/>
          <p:nvPr/>
        </p:nvSpPr>
        <p:spPr>
          <a:xfrm>
            <a:off x="80264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Skenario dan hasil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FCC2C0-C636-F5F5-D81B-84774DC37651}"/>
              </a:ext>
            </a:extLst>
          </p:cNvPr>
          <p:cNvSpPr txBox="1"/>
          <p:nvPr/>
        </p:nvSpPr>
        <p:spPr>
          <a:xfrm>
            <a:off x="80264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s-ES" sz="1250">
                <a:solidFill>
                  <a:srgbClr val="262626"/>
                </a:solidFill>
                <a:latin typeface="Arial" panose="020B0604020202020204" pitchFamily="34" charset="0"/>
              </a:rPr>
              <a:t>Penggabungan dan forecast Mar 2027</a:t>
            </a:r>
            <a:endParaRPr lang="en-ID" sz="12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E16B63-0310-EA82-B091-4CF3C7A87DAE}"/>
              </a:ext>
            </a:extLst>
          </p:cNvPr>
          <p:cNvCxnSpPr/>
          <p:nvPr/>
        </p:nvCxnSpPr>
        <p:spPr>
          <a:xfrm>
            <a:off x="9893300" y="2159000"/>
            <a:ext cx="1727200" cy="0"/>
          </a:xfrm>
          <a:prstGeom prst="line">
            <a:avLst/>
          </a:prstGeom>
          <a:ln w="31750">
            <a:solidFill>
              <a:srgbClr val="A564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59D35F1-AB7C-F385-EF1C-BC0303E55866}"/>
              </a:ext>
            </a:extLst>
          </p:cNvPr>
          <p:cNvSpPr txBox="1"/>
          <p:nvPr/>
        </p:nvSpPr>
        <p:spPr>
          <a:xfrm>
            <a:off x="9893300" y="2311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3400" b="1">
                <a:solidFill>
                  <a:srgbClr val="000000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9E3A02-10D3-0426-242C-EADA9912B86C}"/>
              </a:ext>
            </a:extLst>
          </p:cNvPr>
          <p:cNvSpPr txBox="1"/>
          <p:nvPr/>
        </p:nvSpPr>
        <p:spPr>
          <a:xfrm>
            <a:off x="9893300" y="31115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Evaluasi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C7FEE0-D719-3C96-0EFC-EE9AAC4F1827}"/>
              </a:ext>
            </a:extLst>
          </p:cNvPr>
          <p:cNvSpPr txBox="1"/>
          <p:nvPr/>
        </p:nvSpPr>
        <p:spPr>
          <a:xfrm>
            <a:off x="9893300" y="381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250">
                <a:solidFill>
                  <a:srgbClr val="262626"/>
                </a:solidFill>
                <a:latin typeface="Arial" panose="020B0604020202020204" pitchFamily="34" charset="0"/>
              </a:rPr>
              <a:t>Uji out-of-sample, diagnostik, keterbatasan</a:t>
            </a:r>
          </a:p>
        </p:txBody>
      </p:sp>
    </p:spTree>
    <p:extLst>
      <p:ext uri="{BB962C8B-B14F-4D97-AF65-F5344CB8AC3E}">
        <p14:creationId xmlns:p14="http://schemas.microsoft.com/office/powerpoint/2010/main" val="68121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7935-B1DF-9A73-E159-E45DBA1C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Rupiah diproyeksikan melemah ke ±18.200 pada Mar 2027; skenario berat mendekati 18.900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15699-6647-7754-461C-57BE4F30EFEB}"/>
              </a:ext>
            </a:extLst>
          </p:cNvPr>
          <p:cNvSpPr/>
          <p:nvPr/>
        </p:nvSpPr>
        <p:spPr>
          <a:xfrm>
            <a:off x="558800" y="1270000"/>
            <a:ext cx="2616200" cy="14986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nn-NO" sz="1300" b="1">
                <a:solidFill>
                  <a:srgbClr val="000000"/>
                </a:solidFill>
                <a:latin typeface="Arial" panose="020B0604020202020204" pitchFamily="34" charset="0"/>
              </a:rPr>
              <a:t>Baseline (BMA)</a:t>
            </a:r>
          </a:p>
          <a:p>
            <a:pPr>
              <a:spcAft>
                <a:spcPts val="200"/>
              </a:spcAft>
            </a:pPr>
            <a:r>
              <a:rPr lang="nn-NO" sz="3000" b="1">
                <a:solidFill>
                  <a:srgbClr val="A5644E"/>
                </a:solidFill>
                <a:latin typeface="Arial" panose="020B0604020202020204" pitchFamily="34" charset="0"/>
              </a:rPr>
              <a:t>18.196</a:t>
            </a:r>
          </a:p>
          <a:p>
            <a:pPr>
              <a:spcAft>
                <a:spcPts val="200"/>
              </a:spcAft>
            </a:pPr>
            <a:r>
              <a:rPr lang="nn-NO" sz="1200" b="1">
                <a:solidFill>
                  <a:srgbClr val="262626"/>
                </a:solidFill>
                <a:latin typeface="Arial" panose="020B0604020202020204" pitchFamily="34" charset="0"/>
              </a:rPr>
              <a:t>+1,8% vs Sep-26</a:t>
            </a:r>
          </a:p>
          <a:p>
            <a:pPr>
              <a:spcAft>
                <a:spcPts val="200"/>
              </a:spcAft>
            </a:pPr>
            <a:r>
              <a:rPr lang="nn-NO" sz="1100">
                <a:solidFill>
                  <a:srgbClr val="262626"/>
                </a:solidFill>
                <a:latin typeface="Arial" panose="020B0604020202020204" pitchFamily="34" charset="0"/>
              </a:rPr>
              <a:t>80%: 17.254–19.190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D69E5-5105-1007-F676-8B64366A5387}"/>
              </a:ext>
            </a:extLst>
          </p:cNvPr>
          <p:cNvSpPr/>
          <p:nvPr/>
        </p:nvSpPr>
        <p:spPr>
          <a:xfrm>
            <a:off x="3378200" y="1270000"/>
            <a:ext cx="2616200" cy="14986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Upside</a:t>
            </a:r>
          </a:p>
          <a:p>
            <a:pPr>
              <a:spcAft>
                <a:spcPts val="200"/>
              </a:spcAft>
            </a:pPr>
            <a:r>
              <a:rPr lang="en-ID" sz="3000" b="1">
                <a:solidFill>
                  <a:srgbClr val="A5644E"/>
                </a:solidFill>
                <a:latin typeface="Arial" panose="020B0604020202020204" pitchFamily="34" charset="0"/>
              </a:rPr>
              <a:t>17.924</a:t>
            </a:r>
          </a:p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262626"/>
                </a:solidFill>
                <a:latin typeface="Arial" panose="020B0604020202020204" pitchFamily="34" charset="0"/>
              </a:rPr>
              <a:t>+0,3% vs Sep-26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80%: 16.996–18.903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9A36E-E456-D1F3-4DF7-52A5B1CFB97E}"/>
              </a:ext>
            </a:extLst>
          </p:cNvPr>
          <p:cNvSpPr/>
          <p:nvPr/>
        </p:nvSpPr>
        <p:spPr>
          <a:xfrm>
            <a:off x="6197600" y="1270000"/>
            <a:ext cx="2616200" cy="14986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Adverse</a:t>
            </a:r>
          </a:p>
          <a:p>
            <a:pPr>
              <a:spcAft>
                <a:spcPts val="200"/>
              </a:spcAft>
            </a:pPr>
            <a:r>
              <a:rPr lang="en-ID" sz="3000" b="1">
                <a:solidFill>
                  <a:srgbClr val="A5644E"/>
                </a:solidFill>
                <a:latin typeface="Arial" panose="020B0604020202020204" pitchFamily="34" charset="0"/>
              </a:rPr>
              <a:t>18.465</a:t>
            </a:r>
          </a:p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262626"/>
                </a:solidFill>
                <a:latin typeface="Arial" panose="020B0604020202020204" pitchFamily="34" charset="0"/>
              </a:rPr>
              <a:t>+3,3% vs Sep-26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80%: 17.509–19.473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13741-14B5-CBA5-9DDD-05DD255C5609}"/>
              </a:ext>
            </a:extLst>
          </p:cNvPr>
          <p:cNvSpPr/>
          <p:nvPr/>
        </p:nvSpPr>
        <p:spPr>
          <a:xfrm>
            <a:off x="9017000" y="1270000"/>
            <a:ext cx="2616200" cy="14986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Severe Adverse</a:t>
            </a:r>
          </a:p>
          <a:p>
            <a:pPr>
              <a:spcAft>
                <a:spcPts val="200"/>
              </a:spcAft>
            </a:pP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18.935</a:t>
            </a:r>
          </a:p>
          <a:p>
            <a:pPr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+6,0% vs Sep-26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80%: 17.954–19.969</a:t>
            </a:r>
            <a:endParaRPr lang="en-ID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C58735-2571-927E-7DCF-2014AE259353}"/>
              </a:ext>
            </a:extLst>
          </p:cNvPr>
          <p:cNvCxnSpPr/>
          <p:nvPr/>
        </p:nvCxnSpPr>
        <p:spPr>
          <a:xfrm>
            <a:off x="558800" y="2997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7ABC25-F2D6-F899-1BE8-FF289197D2B2}"/>
              </a:ext>
            </a:extLst>
          </p:cNvPr>
          <p:cNvSpPr txBox="1"/>
          <p:nvPr/>
        </p:nvSpPr>
        <p:spPr>
          <a:xfrm>
            <a:off x="558800" y="30988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A19E6-759D-8AEC-B8DA-5CAC7231F263}"/>
              </a:ext>
            </a:extLst>
          </p:cNvPr>
          <p:cNvSpPr txBox="1"/>
          <p:nvPr/>
        </p:nvSpPr>
        <p:spPr>
          <a:xfrm>
            <a:off x="1346200" y="31115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Baseline dari BMA lebih akurat dari random walk</a:t>
            </a:r>
          </a:p>
          <a:p>
            <a:pPr>
              <a:spcAft>
                <a:spcPts val="200"/>
              </a:spcAft>
            </a:pPr>
            <a:r>
              <a:rPr lang="en-US" sz="1150">
                <a:solidFill>
                  <a:srgbClr val="262626"/>
                </a:solidFill>
                <a:latin typeface="Arial" panose="020B0604020202020204" pitchFamily="34" charset="0"/>
              </a:rPr>
              <a:t>Test 2024–2026: relative RMSE 0,99 / 0,94 / 0,86 (h = 1/3/6 bulan); signifikan di 6 bulan (Clark-West p = 0,02).</a:t>
            </a:r>
            <a:endParaRPr lang="en-ID" sz="11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67ABDC-8F13-EFBE-C1F9-F954B27E8FE4}"/>
              </a:ext>
            </a:extLst>
          </p:cNvPr>
          <p:cNvCxnSpPr/>
          <p:nvPr/>
        </p:nvCxnSpPr>
        <p:spPr>
          <a:xfrm>
            <a:off x="558800" y="378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15BDF5-0E36-4CA0-E5A1-86731C2D6FB3}"/>
              </a:ext>
            </a:extLst>
          </p:cNvPr>
          <p:cNvSpPr txBox="1"/>
          <p:nvPr/>
        </p:nvSpPr>
        <p:spPr>
          <a:xfrm>
            <a:off x="558800" y="3886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01F71-BA45-AABF-6F1C-9246D1DEEF33}"/>
              </a:ext>
            </a:extLst>
          </p:cNvPr>
          <p:cNvSpPr txBox="1"/>
          <p:nvPr/>
        </p:nvSpPr>
        <p:spPr>
          <a:xfrm>
            <a:off x="1346200" y="38989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Skenario dari BVARX: dolar global dan arus modal adalah kanal utama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DXY +1% → rupiah melemah 0,38% di bulan yang sama; arus modal keluar dan cadangan turun searah depresiasi.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B17431-968C-02A3-05E7-5784FEC84973}"/>
              </a:ext>
            </a:extLst>
          </p:cNvPr>
          <p:cNvCxnSpPr/>
          <p:nvPr/>
        </p:nvCxnSpPr>
        <p:spPr>
          <a:xfrm>
            <a:off x="558800" y="4572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1924E25-ED7F-8F61-A69E-529E6BAEB4F4}"/>
              </a:ext>
            </a:extLst>
          </p:cNvPr>
          <p:cNvSpPr txBox="1"/>
          <p:nvPr/>
        </p:nvSpPr>
        <p:spPr>
          <a:xfrm>
            <a:off x="558800" y="467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44DF6-3CD9-CC3F-32E7-EE6B92577B2F}"/>
              </a:ext>
            </a:extLst>
          </p:cNvPr>
          <p:cNvSpPr txBox="1"/>
          <p:nvPr/>
        </p:nvSpPr>
        <p:spPr>
          <a:xfrm>
            <a:off x="1346200" y="4686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Rentang ketidakpastian terkalibrasi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Coverage interval 80% di backtest: 0,92 / 0,85 / 0,81 (target 0,80).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FAAA59-B7F2-06B7-9535-ABED5562AA25}"/>
              </a:ext>
            </a:extLst>
          </p:cNvPr>
          <p:cNvCxnSpPr/>
          <p:nvPr/>
        </p:nvCxnSpPr>
        <p:spPr>
          <a:xfrm>
            <a:off x="558800" y="5359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736839-5C61-FC9D-E323-658C4FD23968}"/>
              </a:ext>
            </a:extLst>
          </p:cNvPr>
          <p:cNvSpPr txBox="1"/>
          <p:nvPr/>
        </p:nvSpPr>
        <p:spPr>
          <a:xfrm>
            <a:off x="558800" y="5435600"/>
            <a:ext cx="11074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USD/IDR Mar 2027, median dan rentang 80%. Anchor Sep 2026 = 17.870.</a:t>
            </a:r>
          </a:p>
        </p:txBody>
      </p:sp>
    </p:spTree>
    <p:extLst>
      <p:ext uri="{BB962C8B-B14F-4D97-AF65-F5344CB8AC3E}">
        <p14:creationId xmlns:p14="http://schemas.microsoft.com/office/powerpoint/2010/main" val="385034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Kerangka model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01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152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60DE-0BA2-DE1F-3995-A9E3B1B39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Dua model, dua peran: BMA menghasilkan baseline, BVARX menghitung efek skenario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33075-6A08-C884-5F28-A00CDB710E34}"/>
              </a:ext>
            </a:extLst>
          </p:cNvPr>
          <p:cNvSpPr txBox="1"/>
          <p:nvPr/>
        </p:nvSpPr>
        <p:spPr>
          <a:xfrm>
            <a:off x="5588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C285E-363B-2B13-654E-1AC7CCCF84C5}"/>
              </a:ext>
            </a:extLst>
          </p:cNvPr>
          <p:cNvSpPr txBox="1"/>
          <p:nvPr/>
        </p:nvSpPr>
        <p:spPr>
          <a:xfrm>
            <a:off x="28956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C9E05-D8CE-EA61-47F1-3A70F35217FF}"/>
              </a:ext>
            </a:extLst>
          </p:cNvPr>
          <p:cNvSpPr txBox="1"/>
          <p:nvPr/>
        </p:nvSpPr>
        <p:spPr>
          <a:xfrm>
            <a:off x="54229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OUTPUT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B2413-12ED-F7DF-CBD3-879613E233E8}"/>
              </a:ext>
            </a:extLst>
          </p:cNvPr>
          <p:cNvSpPr txBox="1"/>
          <p:nvPr/>
        </p:nvSpPr>
        <p:spPr>
          <a:xfrm>
            <a:off x="77597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PENGGABUNGAN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5CB4E-DCD4-4B58-1C3F-903C9FF84609}"/>
              </a:ext>
            </a:extLst>
          </p:cNvPr>
          <p:cNvSpPr txBox="1"/>
          <p:nvPr/>
        </p:nvSpPr>
        <p:spPr>
          <a:xfrm>
            <a:off x="100965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HASIL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88F8B8-058D-DF04-FC77-84117AF16E34}"/>
              </a:ext>
            </a:extLst>
          </p:cNvPr>
          <p:cNvCxnSpPr/>
          <p:nvPr/>
        </p:nvCxnSpPr>
        <p:spPr>
          <a:xfrm>
            <a:off x="558800" y="152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1A8F48A-C14E-D755-F61B-73704E8A3262}"/>
              </a:ext>
            </a:extLst>
          </p:cNvPr>
          <p:cNvSpPr/>
          <p:nvPr/>
        </p:nvSpPr>
        <p:spPr>
          <a:xfrm>
            <a:off x="558800" y="16256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Data pasar (bulan t)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USD/IDR, DXY, UST10Y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Database_Rupiah_Bulanan · 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B83FB-0B57-3B94-2898-4BBCB9271DF6}"/>
              </a:ext>
            </a:extLst>
          </p:cNvPr>
          <p:cNvSpPr/>
          <p:nvPr/>
        </p:nvSpPr>
        <p:spPr>
          <a:xfrm>
            <a:off x="558800" y="28194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Data makro (t−2)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Trade balance, net flows, cadangan devisa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Jeda rilis 2 bulan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EEB1AA-FC92-E139-3116-5C0186163FA2}"/>
              </a:ext>
            </a:extLst>
          </p:cNvPr>
          <p:cNvSpPr/>
          <p:nvPr/>
        </p:nvSpPr>
        <p:spPr>
          <a:xfrm>
            <a:off x="558800" y="40132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Asumsi skenario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Jalur DXY, trade balance, flows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00_master.do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6CD4E-BAC0-CA54-BAD9-0006E68177A2}"/>
              </a:ext>
            </a:extLst>
          </p:cNvPr>
          <p:cNvSpPr/>
          <p:nvPr/>
        </p:nvSpPr>
        <p:spPr>
          <a:xfrm>
            <a:off x="2895600" y="1625600"/>
            <a:ext cx="20955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BMA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64 regresi prediktif, dibobot probabilitas posterior; g = 0,25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09_bma.do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84E40-DC84-7A52-809E-47D4E76B609F}"/>
              </a:ext>
            </a:extLst>
          </p:cNvPr>
          <p:cNvSpPr/>
          <p:nvPr/>
        </p:nvSpPr>
        <p:spPr>
          <a:xfrm>
            <a:off x="2895600" y="3759200"/>
            <a:ext cx="20955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BVARX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Sistem 4 variabel + DXY; prior Minnesota; conditional forecast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01–08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47B373-1A7D-FD2B-5872-AC072175AA9B}"/>
              </a:ext>
            </a:extLst>
          </p:cNvPr>
          <p:cNvSpPr/>
          <p:nvPr/>
        </p:nvSpPr>
        <p:spPr>
          <a:xfrm>
            <a:off x="5422900" y="1625600"/>
            <a:ext cx="19050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Baseline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Median + rentang 80/95%, Okt-26 s/d Mar-27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Output BMA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E656F2-FA0F-8F10-5209-BC9D879BB2AF}"/>
              </a:ext>
            </a:extLst>
          </p:cNvPr>
          <p:cNvSpPr/>
          <p:nvPr/>
        </p:nvSpPr>
        <p:spPr>
          <a:xfrm>
            <a:off x="5422900" y="3759200"/>
            <a:ext cx="19050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Efek skenario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Rasio skenario ÷ baseline BVARX, per bulan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Output BVARX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1D1094-7DEB-CA79-31C8-F8D189B757CE}"/>
              </a:ext>
            </a:extLst>
          </p:cNvPr>
          <p:cNvSpPr/>
          <p:nvPr/>
        </p:nvSpPr>
        <p:spPr>
          <a:xfrm>
            <a:off x="7759700" y="2692400"/>
            <a:ext cx="19050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Penggabungan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Skenario = Baseline BMA × rasio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10_hybrid.do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C6F93-94F1-BBB5-946E-3EDFE51853D5}"/>
              </a:ext>
            </a:extLst>
          </p:cNvPr>
          <p:cNvSpPr/>
          <p:nvPr/>
        </p:nvSpPr>
        <p:spPr>
          <a:xfrm>
            <a:off x="10096500" y="2692400"/>
            <a:ext cx="1536700" cy="12700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FFFFFF"/>
                </a:solidFill>
                <a:latin typeface="Arial" panose="020B0604020202020204" pitchFamily="34" charset="0"/>
              </a:rPr>
              <a:t>USD/IDR per skenario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FFFFFF"/>
                </a:solidFill>
                <a:latin typeface="Arial" panose="020B0604020202020204" pitchFamily="34" charset="0"/>
              </a:rPr>
              <a:t>Baseline, Upside, Adverse, Severe Adverse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A85E5-520E-C9F8-D869-C0224C53CBF6}"/>
              </a:ext>
            </a:extLst>
          </p:cNvPr>
          <p:cNvCxnSpPr/>
          <p:nvPr/>
        </p:nvCxnSpPr>
        <p:spPr>
          <a:xfrm>
            <a:off x="2463800" y="21336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8B748E-5D5B-CB58-1F62-A4E442B45A16}"/>
              </a:ext>
            </a:extLst>
          </p:cNvPr>
          <p:cNvCxnSpPr/>
          <p:nvPr/>
        </p:nvCxnSpPr>
        <p:spPr>
          <a:xfrm>
            <a:off x="2463800" y="33274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497E6B-C31F-01D8-E183-5F60040305B5}"/>
              </a:ext>
            </a:extLst>
          </p:cNvPr>
          <p:cNvCxnSpPr/>
          <p:nvPr/>
        </p:nvCxnSpPr>
        <p:spPr>
          <a:xfrm>
            <a:off x="2679700" y="2133600"/>
            <a:ext cx="0" cy="2057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9F753-FAA3-EC94-0DC1-461D89E70784}"/>
              </a:ext>
            </a:extLst>
          </p:cNvPr>
          <p:cNvCxnSpPr/>
          <p:nvPr/>
        </p:nvCxnSpPr>
        <p:spPr>
          <a:xfrm>
            <a:off x="2679700" y="22606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B932AF-2C15-8EA2-2C9D-C0CF50E56169}"/>
              </a:ext>
            </a:extLst>
          </p:cNvPr>
          <p:cNvCxnSpPr/>
          <p:nvPr/>
        </p:nvCxnSpPr>
        <p:spPr>
          <a:xfrm>
            <a:off x="2679700" y="41910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B26F77-A2F7-2EBC-445E-7A81D5869B3B}"/>
              </a:ext>
            </a:extLst>
          </p:cNvPr>
          <p:cNvCxnSpPr/>
          <p:nvPr/>
        </p:nvCxnSpPr>
        <p:spPr>
          <a:xfrm>
            <a:off x="2463800" y="45212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AAA37B-4C5C-1322-6FDA-E875C6F16712}"/>
              </a:ext>
            </a:extLst>
          </p:cNvPr>
          <p:cNvCxnSpPr/>
          <p:nvPr/>
        </p:nvCxnSpPr>
        <p:spPr>
          <a:xfrm>
            <a:off x="4991100" y="22606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FA78D3-402A-2B21-BDFC-E7E702170FDB}"/>
              </a:ext>
            </a:extLst>
          </p:cNvPr>
          <p:cNvCxnSpPr/>
          <p:nvPr/>
        </p:nvCxnSpPr>
        <p:spPr>
          <a:xfrm>
            <a:off x="4991100" y="43942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82C8AC-15BC-2DDF-9EB0-657F6EDD759F}"/>
              </a:ext>
            </a:extLst>
          </p:cNvPr>
          <p:cNvCxnSpPr/>
          <p:nvPr/>
        </p:nvCxnSpPr>
        <p:spPr>
          <a:xfrm>
            <a:off x="7327900" y="22606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CA6DD2-9B35-78B4-5C3F-DD97729125E4}"/>
              </a:ext>
            </a:extLst>
          </p:cNvPr>
          <p:cNvCxnSpPr/>
          <p:nvPr/>
        </p:nvCxnSpPr>
        <p:spPr>
          <a:xfrm>
            <a:off x="7327900" y="43942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D2030C-FF90-6758-34BA-416D097B725E}"/>
              </a:ext>
            </a:extLst>
          </p:cNvPr>
          <p:cNvCxnSpPr/>
          <p:nvPr/>
        </p:nvCxnSpPr>
        <p:spPr>
          <a:xfrm>
            <a:off x="7543800" y="2260600"/>
            <a:ext cx="0" cy="21336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3BABCB-9362-8B07-9F57-4E27C8B3B01F}"/>
              </a:ext>
            </a:extLst>
          </p:cNvPr>
          <p:cNvCxnSpPr/>
          <p:nvPr/>
        </p:nvCxnSpPr>
        <p:spPr>
          <a:xfrm>
            <a:off x="7543800" y="33274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1A18D5A-8F4C-DA98-C218-A644FF44B435}"/>
              </a:ext>
            </a:extLst>
          </p:cNvPr>
          <p:cNvCxnSpPr/>
          <p:nvPr/>
        </p:nvCxnSpPr>
        <p:spPr>
          <a:xfrm>
            <a:off x="9664700" y="33274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B12326D-F283-4319-F3BF-DA8BAD231C65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5E4A2F-A80E-1935-AC00-CE3126E1D7E3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Horizon 6 bulan (Okt 2026–Mar 2027) dari anchor Sep 2026 = 17.870. Baseline murni BMA; BVARX hanya dipakai untuk besarnya pergeseran tiap skenario. Teks kecil di kotak = sumber atau do-file.</a:t>
            </a:r>
          </a:p>
        </p:txBody>
      </p:sp>
    </p:spTree>
    <p:extLst>
      <p:ext uri="{BB962C8B-B14F-4D97-AF65-F5344CB8AC3E}">
        <p14:creationId xmlns:p14="http://schemas.microsoft.com/office/powerpoint/2010/main" val="14836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CF7B-2437-85F1-5EBE-EB6771B6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Alur perhitungan: delapan langkah dari impor data sampai forecast per skenario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527518-E731-639F-920D-A24ADC22F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83340"/>
              </p:ext>
            </p:extLst>
          </p:nvPr>
        </p:nvGraphicFramePr>
        <p:xfrm>
          <a:off x="558800" y="1270000"/>
          <a:ext cx="110744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78545942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49123593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16187579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30653877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Langkah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Apa yang dihitung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Input utama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Do-file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202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0. Impor dan audit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Cek struktur, missing, flows = saham + SBN + SRBI; uji unit root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Database_Rupiah_Bulanan.xlsx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5687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1. Validation 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Pilih start year, lag, </a:t>
                      </a:r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λ,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dan opsi eksogen dari 48 spesifikasi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Origin Jan 2021–Jun 2023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7140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2. Test 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Forecast vs random walk, bootstrap, benchmark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Origin Jan 2024–Feb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8023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nl-NL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3. Fit akhir dan skenario BVARX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 + 3 skenario, 6.000 simulasi posterior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Asumsi DXY, TB, flows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59206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4. Validation dan test BMA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Pilih g; akurasi vs random walk; uji DM dan Clark-West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Origin sama dengan 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453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5. Forecast BMA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Forecast bulanan h = 1–6 dari Sep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6 prediktor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732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6. Penggabungan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Skenario = Baseline BMA × rasio skenario BVARX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Langkah 3 dan 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2911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7. Output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Tabel, grafik, workbook Excel ringkasan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Semua langkah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07, 10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43696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D7ACF9-2222-35AE-76B2-AA70437F34D7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3F3587A-2442-875F-50CE-CE77C7C3ACDA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Semua langkah dijalankan dari 00_master.do (±6–8 menit di StataMP 19). Hasil disimpan di output/tables, output/figures, dan output/rupiah_bvarx_results.xlsx.</a:t>
            </a:r>
          </a:p>
        </p:txBody>
      </p:sp>
    </p:spTree>
    <p:extLst>
      <p:ext uri="{BB962C8B-B14F-4D97-AF65-F5344CB8AC3E}">
        <p14:creationId xmlns:p14="http://schemas.microsoft.com/office/powerpoint/2010/main" val="194758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AEEF-C0E9-081E-1F3B-88D19106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Mengapa dua model: BMA paling akurat, BVARX menjawab "bagaimana jika"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7E1D9B-3E05-8C34-4124-603C54F55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8731"/>
              </p:ext>
            </p:extLst>
          </p:nvPr>
        </p:nvGraphicFramePr>
        <p:xfrm>
          <a:off x="558800" y="1270000"/>
          <a:ext cx="11074400" cy="386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944127759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850341045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424270326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endParaRPr lang="en-ID" sz="1150" b="1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BMA (baseline)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BVARX (efek skenario)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5626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Pertanyaan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Dengan informasi hari ini, berapa kurs 1–6 bulan lagi?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Jika DXY, TB, dan flows bergerak X, kurs bergeser berapa?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61617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Bentuk model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Satu regresi per horizon; 64 kombinasi prediktor dirata-rata</a:t>
                      </a:r>
                      <a:endParaRPr lang="en-ID" sz="11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Sistem 4 variabel endogen yang diramal bersama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880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Input ke depan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Tidak ada: prediktor sudah teramati saat forecast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Jalur DXY, TB, dan flows bisa ditentukan (skenario)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00768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Ketidakpastian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Parameter dan pilihan prediktor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Parameter dan guncangan sistem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56822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Kekuatan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Paling akurat out-of-sample; rentang terkalibrasi</a:t>
                      </a:r>
                      <a:endParaRPr lang="en-ID" sz="11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Efek DXY dan arus modal signifikan dan logis</a:t>
                      </a:r>
                      <a:endParaRPr lang="en-ID" sz="11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2802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Kelemahan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Tidak bisa membuat skenario; akurasi terutama dari drift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Forecast titik setara random walk; interval terlalu sempit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41746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Peran di sini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Angka baseline dan rentangnya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Persentase pergeseran tiap skenario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72735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18DA33-7CB0-A4C6-9EBE-A8919D6A0CBD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C65630-8B79-B7DD-05BE-ACF9A968B122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sv-SE" sz="1050">
                <a:solidFill>
                  <a:srgbClr val="262626"/>
                </a:solidFill>
                <a:latin typeface="Arial" panose="020B0604020202020204" pitchFamily="34" charset="0"/>
              </a:rPr>
              <a:t>Pembagian peran ini lazim di praktik (model akurat untuk baseline, model struktural untuk skenario); konsekuensinya dibahas di bagian keterbatasan.</a:t>
            </a:r>
            <a:endParaRPr lang="en-ID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323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Data dan literatur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02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441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8341-600D-3B9D-B385-52971220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Data bulanan Jan 2013–Sep 2026 (165 bulan); data makro dipakai dengan jeda rilis 2 bulan</a:t>
            </a:r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655C37-58CB-66E3-1820-9934C7B55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24256"/>
              </p:ext>
            </p:extLst>
          </p:nvPr>
        </p:nvGraphicFramePr>
        <p:xfrm>
          <a:off x="558800" y="1333500"/>
          <a:ext cx="5905500" cy="284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42291110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42209093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4743746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100668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Variabel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Satuan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Di model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Data bulan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8919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IDR per USD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100 × Δ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74659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 miliar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level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8514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 asing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Rp triliun (saham + SBN + SRBI)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level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67143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Cadangan devisa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 miliar (valas)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100 × Δ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7769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DXY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indeks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100 × Δ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6901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UST10Y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% (yield)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perubahan (pp)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54039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094A018-8E6F-92AA-A8E4-706306A65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1831340"/>
            <a:ext cx="4902200" cy="294132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066940-CE5C-DAB4-8AAD-3F92ECB9036C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57D2D3C-48C0-F161-8BB5-94903837456E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Sep 2026: trade balance belum tersedia (tidak diisi nol atau interpolasi). Flows SRBI mulai Sep 2023. Database memakai data versi terbaru (latest vintage), bukan versi saat rilis.</a:t>
            </a:r>
          </a:p>
        </p:txBody>
      </p:sp>
    </p:spTree>
    <p:extLst>
      <p:ext uri="{BB962C8B-B14F-4D97-AF65-F5344CB8AC3E}">
        <p14:creationId xmlns:p14="http://schemas.microsoft.com/office/powerpoint/2010/main" val="14146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AAD1-DE4F-616C-8FDC-E6DC2C66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Literatur (1): kurs sulit diprediksi; benchmark dan uji out-of-sample jadi kunci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58AD3A8-9ADB-518F-3154-3B79FCED9352}"/>
              </a:ext>
            </a:extLst>
          </p:cNvPr>
          <p:cNvCxnSpPr/>
          <p:nvPr/>
        </p:nvCxnSpPr>
        <p:spPr>
          <a:xfrm>
            <a:off x="558800" y="1270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6163B29-F05A-ED03-6BDE-FBE90788B1A4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EE829-F454-D388-B4C3-88A813888ABE}"/>
              </a:ext>
            </a:extLst>
          </p:cNvPr>
          <p:cNvSpPr txBox="1"/>
          <p:nvPr/>
        </p:nvSpPr>
        <p:spPr>
          <a:xfrm>
            <a:off x="1346200" y="1384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Meese &amp; Rogoff (1983): model kurs sulit mengalahkan random walk di luar sampel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random walk tanpa drift sebagai benchmark utama di semua evaluasi.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AB4AED-573C-66C0-BF51-E20A61F775B7}"/>
              </a:ext>
            </a:extLst>
          </p:cNvPr>
          <p:cNvCxnSpPr/>
          <p:nvPr/>
        </p:nvCxnSpPr>
        <p:spPr>
          <a:xfrm>
            <a:off x="558800" y="2286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00E430-3962-D039-6789-2108754F1DBC}"/>
              </a:ext>
            </a:extLst>
          </p:cNvPr>
          <p:cNvSpPr txBox="1"/>
          <p:nvPr/>
        </p:nvSpPr>
        <p:spPr>
          <a:xfrm>
            <a:off x="558800" y="2387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8D4EA-5E9A-5A79-F19C-BD2285EA3A41}"/>
              </a:ext>
            </a:extLst>
          </p:cNvPr>
          <p:cNvSpPr txBox="1"/>
          <p:nvPr/>
        </p:nvSpPr>
        <p:spPr>
          <a:xfrm>
            <a:off x="1346200" y="2400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Rossi (2013): prediktabilitas bergantung pada prediktor, horizon, sampel, dan uji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evaluasi out-of-sample di tiga horizon, origin bergulir, dan uji Clark-West.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FDB647-BA19-16BD-E1A8-A7A178F27F52}"/>
              </a:ext>
            </a:extLst>
          </p:cNvPr>
          <p:cNvCxnSpPr/>
          <p:nvPr/>
        </p:nvCxnSpPr>
        <p:spPr>
          <a:xfrm>
            <a:off x="558800" y="3302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AEB4E7-CB55-4E34-83C1-A667BAB3D607}"/>
              </a:ext>
            </a:extLst>
          </p:cNvPr>
          <p:cNvSpPr txBox="1"/>
          <p:nvPr/>
        </p:nvSpPr>
        <p:spPr>
          <a:xfrm>
            <a:off x="558800" y="340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F9978-8AE5-B7C6-3C24-1A95E6E6E069}"/>
              </a:ext>
            </a:extLst>
          </p:cNvPr>
          <p:cNvSpPr txBox="1"/>
          <p:nvPr/>
        </p:nvSpPr>
        <p:spPr>
          <a:xfrm>
            <a:off x="1346200" y="3416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Litterman (1986); Sims &amp; Zha (1998): prior Minnesota mencegah VAR overfit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BVARX dengan shrinkage 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λ </a:t>
            </a: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yang dipilih di validation (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λ = 0,03).</a:t>
            </a:r>
            <a:endParaRPr lang="en-ID" sz="12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7ADB3E-14B0-9286-7D3C-090D35F9B684}"/>
              </a:ext>
            </a:extLst>
          </p:cNvPr>
          <p:cNvCxnSpPr/>
          <p:nvPr/>
        </p:nvCxnSpPr>
        <p:spPr>
          <a:xfrm>
            <a:off x="558800" y="4318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5E585B-6C18-716E-1084-C479762C61B5}"/>
              </a:ext>
            </a:extLst>
          </p:cNvPr>
          <p:cNvSpPr txBox="1"/>
          <p:nvPr/>
        </p:nvSpPr>
        <p:spPr>
          <a:xfrm>
            <a:off x="558800" y="4419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A0A98-237A-E013-6C08-AE353C8F5BBA}"/>
              </a:ext>
            </a:extLst>
          </p:cNvPr>
          <p:cNvSpPr txBox="1"/>
          <p:nvPr/>
        </p:nvSpPr>
        <p:spPr>
          <a:xfrm>
            <a:off x="1346200" y="4432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Waggoner &amp; Zha (1999): forecast bersyarat dengan membatasi jalur variabel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skenario BVARX, dengan DXY, trade balance, dan flows dikunci pada nilai skenario.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74D49A-711A-C12D-6B34-5562EA46DCBE}"/>
              </a:ext>
            </a:extLst>
          </p:cNvPr>
          <p:cNvCxnSpPr/>
          <p:nvPr/>
        </p:nvCxnSpPr>
        <p:spPr>
          <a:xfrm>
            <a:off x="558800" y="533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0D60E8-BCF9-EFEB-98E3-7189A1830EBD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88FC5E9-C0B7-EC00-E4A9-68C9FADCB812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Implikasi: target realistis untuk forecast titik adalah setara atau sedikit lebih baik dari random walk; nilai tambah model fundamental terutama ada di analisis skenario.</a:t>
            </a:r>
          </a:p>
        </p:txBody>
      </p:sp>
    </p:spTree>
    <p:extLst>
      <p:ext uri="{BB962C8B-B14F-4D97-AF65-F5344CB8AC3E}">
        <p14:creationId xmlns:p14="http://schemas.microsoft.com/office/powerpoint/2010/main" val="290662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4B78-3611-F571-F414-A6A9BCE7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Literatur (2): BMA dan uji akurasi forecast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96DC210-5062-B8A8-789A-535DE018245E}"/>
              </a:ext>
            </a:extLst>
          </p:cNvPr>
          <p:cNvCxnSpPr/>
          <p:nvPr/>
        </p:nvCxnSpPr>
        <p:spPr>
          <a:xfrm>
            <a:off x="558800" y="1270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77119C5-CEDC-4124-7D96-E5A933EF077A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81A85-4E80-F012-C82C-9335CB9EC1CC}"/>
              </a:ext>
            </a:extLst>
          </p:cNvPr>
          <p:cNvSpPr txBox="1"/>
          <p:nvPr/>
        </p:nvSpPr>
        <p:spPr>
          <a:xfrm>
            <a:off x="1346200" y="1384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Zellner (1986); Fernández, Ley &amp; Steel (2001): g-prior dan prior acuan BMA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marginal likelihood bentuk tertutup, prior datar untuk konstanta, prior seragam atas model.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80E4B5-F246-1DBA-62F6-ABB7364A3945}"/>
              </a:ext>
            </a:extLst>
          </p:cNvPr>
          <p:cNvCxnSpPr/>
          <p:nvPr/>
        </p:nvCxnSpPr>
        <p:spPr>
          <a:xfrm>
            <a:off x="558800" y="2286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647FE7-7538-263F-CD73-767617B23BBB}"/>
              </a:ext>
            </a:extLst>
          </p:cNvPr>
          <p:cNvSpPr txBox="1"/>
          <p:nvPr/>
        </p:nvSpPr>
        <p:spPr>
          <a:xfrm>
            <a:off x="558800" y="2387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3E029-27A0-75A4-36D0-C9DC4110A473}"/>
              </a:ext>
            </a:extLst>
          </p:cNvPr>
          <p:cNvSpPr txBox="1"/>
          <p:nvPr/>
        </p:nvSpPr>
        <p:spPr>
          <a:xfrm>
            <a:off x="1346200" y="2400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Wright (2008): BMA untuk kurs; shrinkage kuat memberi keunggulan kecil atas random walk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grid g di validation; g kecil (0,25) terpilih, konsisten dengan temuan Wright.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946E96-6830-1961-A1AE-5639966D2DB5}"/>
              </a:ext>
            </a:extLst>
          </p:cNvPr>
          <p:cNvCxnSpPr/>
          <p:nvPr/>
        </p:nvCxnSpPr>
        <p:spPr>
          <a:xfrm>
            <a:off x="558800" y="3302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DAD968-AAC3-6843-783E-3D137FBEEA1C}"/>
              </a:ext>
            </a:extLst>
          </p:cNvPr>
          <p:cNvSpPr txBox="1"/>
          <p:nvPr/>
        </p:nvSpPr>
        <p:spPr>
          <a:xfrm>
            <a:off x="558800" y="340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DBC58-B13F-84C9-9115-7CE4B3D4042C}"/>
              </a:ext>
            </a:extLst>
          </p:cNvPr>
          <p:cNvSpPr txBox="1"/>
          <p:nvPr/>
        </p:nvSpPr>
        <p:spPr>
          <a:xfrm>
            <a:off x="1346200" y="3416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Diebold &amp; Mariano (1995); Harvey, Leybourne &amp; Newbold (1997): uji beda akurasi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uji DM dengan koreksi sampel kecil HLN dan varians Newey-West lag h − 1.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FB7969-33DF-3272-FBAC-E4181253669A}"/>
              </a:ext>
            </a:extLst>
          </p:cNvPr>
          <p:cNvCxnSpPr/>
          <p:nvPr/>
        </p:nvCxnSpPr>
        <p:spPr>
          <a:xfrm>
            <a:off x="558800" y="4318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185AC1-5ED8-CFBF-491B-C3676284DF8A}"/>
              </a:ext>
            </a:extLst>
          </p:cNvPr>
          <p:cNvSpPr txBox="1"/>
          <p:nvPr/>
        </p:nvSpPr>
        <p:spPr>
          <a:xfrm>
            <a:off x="558800" y="4419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B4936-B2A7-F629-3658-758F381770E2}"/>
              </a:ext>
            </a:extLst>
          </p:cNvPr>
          <p:cNvSpPr txBox="1"/>
          <p:nvPr/>
        </p:nvSpPr>
        <p:spPr>
          <a:xfrm>
            <a:off x="1346200" y="4432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Clark &amp; West (2007): uji akurasi untuk model bersarang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Dipakai: uji utama BMA vs random walk, karena random walk adalah kasus khusus BMA.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65C9EF-5C03-5ECF-E826-547287C786BD}"/>
              </a:ext>
            </a:extLst>
          </p:cNvPr>
          <p:cNvCxnSpPr/>
          <p:nvPr/>
        </p:nvCxnSpPr>
        <p:spPr>
          <a:xfrm>
            <a:off x="558800" y="533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9EAEC-7695-E82D-1196-7573E65331F0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E62F6D-2553-58E6-9582-3F97B8DC2180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Liang et al. (2008) dipakai sebagai acuan bentuk marginal likelihood g-prior; Carriero, Kapetanios &amp; Marcellino (2009) sebagai contoh BVAR untuk kurs.</a:t>
            </a:r>
          </a:p>
        </p:txBody>
      </p:sp>
    </p:spTree>
    <p:extLst>
      <p:ext uri="{BB962C8B-B14F-4D97-AF65-F5344CB8AC3E}">
        <p14:creationId xmlns:p14="http://schemas.microsoft.com/office/powerpoint/2010/main" val="95029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5552-2165-FF16-69B6-029DA2DA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Unit root: cadangan dan DXY nonstasioner di level; semua stasioner dalam perubahan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0FCCDE-37BD-8F40-8882-3D81197FA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05120"/>
              </p:ext>
            </p:extLst>
          </p:nvPr>
        </p:nvGraphicFramePr>
        <p:xfrm>
          <a:off x="558800" y="1270000"/>
          <a:ext cx="11074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53352191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3648737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47564525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315021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450254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373875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98366383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Seri (sampel 2014–Agu 2026)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Spesifikasi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Lag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ADF </a:t>
                      </a:r>
                      <a:r>
                        <a:rPr lang="el-GR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τ</a:t>
                      </a:r>
                      <a:endParaRPr lang="en-ID" sz="1100" b="1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ADF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PP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Kesimpulan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33891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USD/IDR (level)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 + tren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−3,78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0,018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0,023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 di sekitar tren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5844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USD/IDR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−13,32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9694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cadangan devisa (level)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 + tren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−2,64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0,260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0,197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Unit root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60013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cadangan devisa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−11,81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5782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DXY (level)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 + tren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−2,71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0,230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0,177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Unit root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26588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log DXY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−11,44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48047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−3,28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0924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konstanta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−10,33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Stasioner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70126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999441-34B4-C8EB-163F-F119B5B85520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BF261F-A0D9-75D0-8AD6-4BA4A2934554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ADF dengan lag dipilih BIC (0–6) dan Phillips-Perron; H0 = unit root. Model dibangun dalam perubahan (changes); versi level menarik kurs ke rata-rata sampel dan kalah dari random walk (arsip v2).</a:t>
            </a:r>
          </a:p>
        </p:txBody>
      </p:sp>
    </p:spTree>
    <p:extLst>
      <p:ext uri="{BB962C8B-B14F-4D97-AF65-F5344CB8AC3E}">
        <p14:creationId xmlns:p14="http://schemas.microsoft.com/office/powerpoint/2010/main" val="2923045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Baseline: Bayesian Model Averaging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03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92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F2D1-DF98-73C5-429F-ECB67539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BMA: daripada memilih satu model, rata-ratakan semua kombinasi prediktor sesuai bukti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AFC03C-7D9E-F948-3CF5-C86898E20EFA}"/>
              </a:ext>
            </a:extLst>
          </p:cNvPr>
          <p:cNvSpPr/>
          <p:nvPr/>
        </p:nvSpPr>
        <p:spPr>
          <a:xfrm>
            <a:off x="558800" y="1778000"/>
            <a:ext cx="1930400" cy="1460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6 kandidat prediktor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Kurs, DXY, UST10Y (bulan t); flows, TB, cadangan (t−2)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DE3CB9-D40C-A613-BDAE-F766F0284582}"/>
              </a:ext>
            </a:extLst>
          </p:cNvPr>
          <p:cNvSpPr/>
          <p:nvPr/>
        </p:nvSpPr>
        <p:spPr>
          <a:xfrm>
            <a:off x="2844800" y="1778000"/>
            <a:ext cx="1930400" cy="1460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64 model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Semua kombinasi; konstanta (drift) selalu ada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2^6 =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DFF30-4A5E-1B1B-B54B-51A65D1867D1}"/>
              </a:ext>
            </a:extLst>
          </p:cNvPr>
          <p:cNvSpPr/>
          <p:nvPr/>
        </p:nvSpPr>
        <p:spPr>
          <a:xfrm>
            <a:off x="5130800" y="1778000"/>
            <a:ext cx="1930400" cy="1460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Estimasi tiap model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OLS dengan g-prior Zellner: koefisien × g/(1+g)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g = 0,25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4E6-3CB5-0FF3-E115-E6D26EB5290A}"/>
              </a:ext>
            </a:extLst>
          </p:cNvPr>
          <p:cNvSpPr/>
          <p:nvPr/>
        </p:nvSpPr>
        <p:spPr>
          <a:xfrm>
            <a:off x="7416800" y="1778000"/>
            <a:ext cx="1930400" cy="1460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it-IT" sz="1300" b="1">
                <a:solidFill>
                  <a:srgbClr val="000000"/>
                </a:solidFill>
                <a:latin typeface="Arial" panose="020B0604020202020204" pitchFamily="34" charset="0"/>
              </a:rPr>
              <a:t>Bobot model</a:t>
            </a:r>
          </a:p>
          <a:p>
            <a:pPr>
              <a:spcAft>
                <a:spcPts val="200"/>
              </a:spcAft>
            </a:pPr>
            <a:r>
              <a:rPr lang="it-IT" sz="1050">
                <a:solidFill>
                  <a:srgbClr val="262626"/>
                </a:solidFill>
                <a:latin typeface="Arial" panose="020B0604020202020204" pitchFamily="34" charset="0"/>
              </a:rPr>
              <a:t>Probabilitas posterior ∝ marginal likelihood × prior</a:t>
            </a:r>
          </a:p>
          <a:p>
            <a:pPr>
              <a:spcAft>
                <a:spcPts val="200"/>
              </a:spcAft>
            </a:pPr>
            <a:r>
              <a:rPr lang="it-IT" sz="900">
                <a:solidFill>
                  <a:srgbClr val="595959"/>
                </a:solidFill>
                <a:latin typeface="Arial" panose="020B0604020202020204" pitchFamily="34" charset="0"/>
              </a:rPr>
              <a:t>Prior 50% per prediktor</a:t>
            </a:r>
            <a:endParaRPr lang="en-ID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9B3E34-1FDB-1AEC-147A-07B9C1CB616D}"/>
              </a:ext>
            </a:extLst>
          </p:cNvPr>
          <p:cNvSpPr/>
          <p:nvPr/>
        </p:nvSpPr>
        <p:spPr>
          <a:xfrm>
            <a:off x="9702800" y="1778000"/>
            <a:ext cx="1930400" cy="14605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Forecast BMA</a:t>
            </a:r>
          </a:p>
          <a:p>
            <a:pPr>
              <a:spcAft>
                <a:spcPts val="200"/>
              </a:spcAft>
            </a:pPr>
            <a:r>
              <a:rPr lang="en-US" sz="1050">
                <a:solidFill>
                  <a:srgbClr val="FFFFFF"/>
                </a:solidFill>
                <a:latin typeface="Arial" panose="020B0604020202020204" pitchFamily="34" charset="0"/>
              </a:rPr>
              <a:t>Σ bobot × forecast model; rentang dari campuran predictive</a:t>
            </a:r>
          </a:p>
          <a:p>
            <a:pPr>
              <a:spcAft>
                <a:spcPts val="200"/>
              </a:spcAft>
            </a:pPr>
            <a:r>
              <a:rPr lang="en-US" sz="900">
                <a:solidFill>
                  <a:srgbClr val="FFFFFF"/>
                </a:solidFill>
                <a:latin typeface="Arial" panose="020B0604020202020204" pitchFamily="34" charset="0"/>
              </a:rPr>
              <a:t>bmapredict</a:t>
            </a:r>
            <a:endParaRPr lang="en-ID" sz="9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57EFA-4E3F-3F0B-59E0-4C89FD2BD19A}"/>
              </a:ext>
            </a:extLst>
          </p:cNvPr>
          <p:cNvCxnSpPr/>
          <p:nvPr/>
        </p:nvCxnSpPr>
        <p:spPr>
          <a:xfrm>
            <a:off x="2489200" y="2501900"/>
            <a:ext cx="3556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CEB06E-10CC-6CD2-FF52-37E1928F093F}"/>
              </a:ext>
            </a:extLst>
          </p:cNvPr>
          <p:cNvCxnSpPr/>
          <p:nvPr/>
        </p:nvCxnSpPr>
        <p:spPr>
          <a:xfrm>
            <a:off x="4775200" y="2501900"/>
            <a:ext cx="3556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8591C8-3276-D95D-1C41-C0A5DA1E12F4}"/>
              </a:ext>
            </a:extLst>
          </p:cNvPr>
          <p:cNvCxnSpPr/>
          <p:nvPr/>
        </p:nvCxnSpPr>
        <p:spPr>
          <a:xfrm>
            <a:off x="7061200" y="2501900"/>
            <a:ext cx="3556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82FBA5-5388-C66A-731A-5D86D02B54C6}"/>
              </a:ext>
            </a:extLst>
          </p:cNvPr>
          <p:cNvCxnSpPr/>
          <p:nvPr/>
        </p:nvCxnSpPr>
        <p:spPr>
          <a:xfrm>
            <a:off x="9347200" y="2501900"/>
            <a:ext cx="3556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4B2D6-9BC1-BE57-AA87-2F3E51274447}"/>
              </a:ext>
            </a:extLst>
          </p:cNvPr>
          <p:cNvSpPr/>
          <p:nvPr/>
        </p:nvSpPr>
        <p:spPr>
          <a:xfrm>
            <a:off x="558800" y="3619500"/>
            <a:ext cx="5435600" cy="1397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sv-SE" sz="1300" b="1">
                <a:solidFill>
                  <a:srgbClr val="000000"/>
                </a:solidFill>
                <a:latin typeface="Arial" panose="020B0604020202020204" pitchFamily="34" charset="0"/>
              </a:rPr>
              <a:t>Posterior inclusion probability (PIP)</a:t>
            </a:r>
          </a:p>
          <a:p>
            <a:pPr>
              <a:spcAft>
                <a:spcPts val="200"/>
              </a:spcAft>
            </a:pPr>
            <a:r>
              <a:rPr lang="sv-SE" sz="1100">
                <a:solidFill>
                  <a:srgbClr val="262626"/>
                </a:solidFill>
                <a:latin typeface="Arial" panose="020B0604020202020204" pitchFamily="34" charset="0"/>
              </a:rPr>
              <a:t>PIP(j) = jumlah bobot model yang memuat prediktor j. PIP mendekati 1: data yakin prediktor relevan; sekitar 0,5: tidak ada bukti (sama dengan prior).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B2A4E2-5318-91C6-B917-052E003F78DA}"/>
              </a:ext>
            </a:extLst>
          </p:cNvPr>
          <p:cNvSpPr/>
          <p:nvPr/>
        </p:nvSpPr>
        <p:spPr>
          <a:xfrm>
            <a:off x="6197600" y="3619500"/>
            <a:ext cx="5435600" cy="1397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Satu persamaan per horizon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h = 1, …, 6 diestimasi terpisah. Di setiap origin backtest, 64 model diestimasi ulang hanya dengan data yang sudah tersedia (expanding window, mulai 2014).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256168-7A23-DED0-3F7A-3BE0E42916C9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3BADF2-AD1D-99C4-A0A2-CFF3035F14FB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Implementasi: bmaregress (Stata 18+) dengan gprior(fixed 0,25) dan mprior(binomial 0,5); enumerasi penuh 64 model; prediksi analitis dengan bmapredict.</a:t>
            </a:r>
          </a:p>
        </p:txBody>
      </p:sp>
    </p:spTree>
    <p:extLst>
      <p:ext uri="{BB962C8B-B14F-4D97-AF65-F5344CB8AC3E}">
        <p14:creationId xmlns:p14="http://schemas.microsoft.com/office/powerpoint/2010/main" val="3921957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387-CC45-0C12-8ED4-562A0C15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Spesifikasi BMA: perubahan kurs h bulan ke depan dari informasi saat forecast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5BBD3-47A4-029C-7373-6703702FB445}"/>
              </a:ext>
            </a:extLst>
          </p:cNvPr>
          <p:cNvSpPr/>
          <p:nvPr/>
        </p:nvSpPr>
        <p:spPr>
          <a:xfrm>
            <a:off x="558800" y="1270000"/>
            <a:ext cx="11074400" cy="584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y(t+h) = 100 × [ln S(t+h) − ln S(t)] = </a:t>
            </a:r>
            <a:r>
              <a:rPr lang="el-GR" sz="1300" b="1">
                <a:solidFill>
                  <a:srgbClr val="000000"/>
                </a:solidFill>
                <a:latin typeface="Arial" panose="020B0604020202020204" pitchFamily="34" charset="0"/>
              </a:rPr>
              <a:t>α + Σ γ</a:t>
            </a: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j </a:t>
            </a:r>
            <a:r>
              <a:rPr lang="el-GR" sz="1300" b="1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j xj(t) + </a:t>
            </a:r>
            <a:r>
              <a:rPr lang="el-GR" sz="1300" b="1">
                <a:solidFill>
                  <a:srgbClr val="000000"/>
                </a:solidFill>
                <a:latin typeface="Arial" panose="020B0604020202020204" pitchFamily="34" charset="0"/>
              </a:rPr>
              <a:t>ε(</a:t>
            </a: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t+h);   </a:t>
            </a:r>
            <a:r>
              <a:rPr lang="el-GR" sz="1300" b="1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j ∈ {0, 1} menentukan prediktor yang masuk model 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D2F300-FFFF-E78D-A0DE-D98DEDA7F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801570"/>
              </p:ext>
            </p:extLst>
          </p:nvPr>
        </p:nvGraphicFramePr>
        <p:xfrm>
          <a:off x="558800" y="2095500"/>
          <a:ext cx="11074400" cy="266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63813165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7841363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4204947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42464873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1567698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777385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3916709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Kode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Prediktor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Data bulan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Alasan ekonomi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PIP h=1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PIP h=3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PIP h=6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3976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ds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Perubahan USD/IDR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Momentum atau pembalikan jangka pendek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0,69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5749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ddxy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Perubahan DXY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Kekuatan dolar global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9847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dust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Perubahan UST10Y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Daya tarik aset dolar, arus modal</a:t>
                      </a:r>
                      <a:endParaRPr lang="en-ID" sz="11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0,62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8963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flow2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 asing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Permintaan rupiah dari investor asing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4343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tb2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Pasokan valas dari ekspor neto</a:t>
                      </a:r>
                      <a:endParaRPr lang="en-ID" sz="11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0,52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1528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dres2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Perubahan cadangan devisa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 − 2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Kapasitas stabilisasi Bank Indonesia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0,49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808726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0E8AC1-CBF3-5B2F-D1E3-15F6D06BAA88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CB270D-CCCE-64C8-C63A-720986F9BE57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PIP sampel penuh (s.d. Agu 2026). Prior PIP = 0,50, jadi nilai sekitar 0,5 berarti data tidak memberi bukti kuat. Tertinggi: perubahan kurs (0,69) dan UST10Y (0,62) di h = 3.</a:t>
            </a:r>
          </a:p>
        </p:txBody>
      </p:sp>
    </p:spTree>
    <p:extLst>
      <p:ext uri="{BB962C8B-B14F-4D97-AF65-F5344CB8AC3E}">
        <p14:creationId xmlns:p14="http://schemas.microsoft.com/office/powerpoint/2010/main" val="223456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BC0A-41E0-323B-9D67-FF2FC23A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Prior: g-prior dengan shrinkage kuat (g = 0,25) terpilih di validation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579B11-E4FF-A7BA-D09B-CA3D050B5769}"/>
              </a:ext>
            </a:extLst>
          </p:cNvPr>
          <p:cNvCxnSpPr/>
          <p:nvPr/>
        </p:nvCxnSpPr>
        <p:spPr>
          <a:xfrm>
            <a:off x="558800" y="1270000"/>
            <a:ext cx="6096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9C0B92-87AF-23AB-AF5B-2700B0FBB437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630E6-F6EF-03D4-011C-B4838AE516A4}"/>
              </a:ext>
            </a:extLst>
          </p:cNvPr>
          <p:cNvSpPr txBox="1"/>
          <p:nvPr/>
        </p:nvSpPr>
        <p:spPr>
          <a:xfrm>
            <a:off x="1346200" y="1384300"/>
            <a:ext cx="530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nn-NO" sz="1400" b="1">
                <a:solidFill>
                  <a:srgbClr val="000000"/>
                </a:solidFill>
                <a:latin typeface="Arial" panose="020B0604020202020204" pitchFamily="34" charset="0"/>
              </a:rPr>
              <a:t>Konstanta dan σ: prior datar</a:t>
            </a:r>
          </a:p>
          <a:p>
            <a:pPr>
              <a:spcAft>
                <a:spcPts val="200"/>
              </a:spcAft>
            </a:pPr>
            <a:r>
              <a:rPr lang="nn-NO" sz="1150">
                <a:solidFill>
                  <a:srgbClr val="262626"/>
                </a:solidFill>
                <a:latin typeface="Arial" panose="020B0604020202020204" pitchFamily="34" charset="0"/>
              </a:rPr>
              <a:t>Mengikuti Fernández, Ley &amp; Steel (2001); drift tidak ikut di-shrink.</a:t>
            </a:r>
            <a:endParaRPr lang="en-ID" sz="11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AC394C-FA69-3110-16DA-856A2E1F4598}"/>
              </a:ext>
            </a:extLst>
          </p:cNvPr>
          <p:cNvCxnSpPr/>
          <p:nvPr/>
        </p:nvCxnSpPr>
        <p:spPr>
          <a:xfrm>
            <a:off x="558800" y="2260600"/>
            <a:ext cx="6096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4461E2-E577-732D-4BC0-215DB6928397}"/>
              </a:ext>
            </a:extLst>
          </p:cNvPr>
          <p:cNvSpPr txBox="1"/>
          <p:nvPr/>
        </p:nvSpPr>
        <p:spPr>
          <a:xfrm>
            <a:off x="558800" y="2362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98AD6-326F-07D3-A23B-26527D0C4591}"/>
              </a:ext>
            </a:extLst>
          </p:cNvPr>
          <p:cNvSpPr txBox="1"/>
          <p:nvPr/>
        </p:nvSpPr>
        <p:spPr>
          <a:xfrm>
            <a:off x="1346200" y="2374900"/>
            <a:ext cx="530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Koefisien: </a:t>
            </a:r>
            <a:r>
              <a:rPr lang="el-GR" sz="1400" b="1">
                <a:solidFill>
                  <a:srgbClr val="000000"/>
                </a:solidFill>
                <a:latin typeface="Arial" panose="020B0604020202020204" pitchFamily="34" charset="0"/>
              </a:rPr>
              <a:t>β ~ </a:t>
            </a: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N(0, g </a:t>
            </a:r>
            <a:r>
              <a:rPr lang="el-GR" sz="1400" b="1">
                <a:solidFill>
                  <a:srgbClr val="000000"/>
                </a:solidFill>
                <a:latin typeface="Arial" panose="020B0604020202020204" pitchFamily="34" charset="0"/>
              </a:rPr>
              <a:t>σ² (</a:t>
            </a: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X′X)⁻¹)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Berpusat di 0 = tidak ada prediktabilitas, konsisten dengan random walk.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D18A46-5A6A-5253-D03A-7639D201AFD6}"/>
              </a:ext>
            </a:extLst>
          </p:cNvPr>
          <p:cNvCxnSpPr/>
          <p:nvPr/>
        </p:nvCxnSpPr>
        <p:spPr>
          <a:xfrm>
            <a:off x="558800" y="3251200"/>
            <a:ext cx="6096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CF5675-3393-0DF6-24F1-7E453842C470}"/>
              </a:ext>
            </a:extLst>
          </p:cNvPr>
          <p:cNvSpPr txBox="1"/>
          <p:nvPr/>
        </p:nvSpPr>
        <p:spPr>
          <a:xfrm>
            <a:off x="558800" y="33528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41C90-CFC6-E7F6-9A81-4233711A3079}"/>
              </a:ext>
            </a:extLst>
          </p:cNvPr>
          <p:cNvSpPr txBox="1"/>
          <p:nvPr/>
        </p:nvSpPr>
        <p:spPr>
          <a:xfrm>
            <a:off x="1346200" y="3365500"/>
            <a:ext cx="530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g kecil = shrinkage kuat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Koefisien posterior = g/(1+g) × OLS = 20% dari OLS untuk g = 0,25.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05F67F-7116-3D25-E9DB-04F17D4EAB14}"/>
              </a:ext>
            </a:extLst>
          </p:cNvPr>
          <p:cNvCxnSpPr/>
          <p:nvPr/>
        </p:nvCxnSpPr>
        <p:spPr>
          <a:xfrm>
            <a:off x="558800" y="4241800"/>
            <a:ext cx="6096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40DDD5-5400-5AD0-D533-0E3B9EDA70BC}"/>
              </a:ext>
            </a:extLst>
          </p:cNvPr>
          <p:cNvSpPr txBox="1"/>
          <p:nvPr/>
        </p:nvSpPr>
        <p:spPr>
          <a:xfrm>
            <a:off x="558800" y="43434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4F6C3-F637-C764-6BEE-1CF7A326BBF0}"/>
              </a:ext>
            </a:extLst>
          </p:cNvPr>
          <p:cNvSpPr txBox="1"/>
          <p:nvPr/>
        </p:nvSpPr>
        <p:spPr>
          <a:xfrm>
            <a:off x="1346200" y="4356100"/>
            <a:ext cx="530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pt-BR" sz="1400" b="1">
                <a:solidFill>
                  <a:srgbClr val="000000"/>
                </a:solidFill>
                <a:latin typeface="Arial" panose="020B0604020202020204" pitchFamily="34" charset="0"/>
              </a:rPr>
              <a:t>Prior model: 50% per prediktor</a:t>
            </a:r>
          </a:p>
          <a:p>
            <a:pPr>
              <a:spcAft>
                <a:spcPts val="200"/>
              </a:spcAft>
            </a:pPr>
            <a:r>
              <a:rPr lang="pt-BR" sz="1150">
                <a:solidFill>
                  <a:srgbClr val="262626"/>
                </a:solidFill>
                <a:latin typeface="Arial" panose="020B0604020202020204" pitchFamily="34" charset="0"/>
              </a:rPr>
              <a:t>Setara prior seragam atas 64 model.</a:t>
            </a:r>
            <a:endParaRPr lang="en-ID" sz="11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CC1822-CCD4-A4F6-22F2-A8859133547B}"/>
              </a:ext>
            </a:extLst>
          </p:cNvPr>
          <p:cNvCxnSpPr/>
          <p:nvPr/>
        </p:nvCxnSpPr>
        <p:spPr>
          <a:xfrm>
            <a:off x="558800" y="5232400"/>
            <a:ext cx="6096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05A1CB-49D5-CA8D-40A9-D0E231486CF9}"/>
              </a:ext>
            </a:extLst>
          </p:cNvPr>
          <p:cNvSpPr txBox="1"/>
          <p:nvPr/>
        </p:nvSpPr>
        <p:spPr>
          <a:xfrm>
            <a:off x="6959600" y="1371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Validation (origin 2021–2023): relative RMSE vs random walk</a:t>
            </a:r>
            <a:endParaRPr lang="en-ID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7783751-A548-9A4F-0E72-A84E97D5E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0579"/>
              </p:ext>
            </p:extLst>
          </p:nvPr>
        </p:nvGraphicFramePr>
        <p:xfrm>
          <a:off x="6959600" y="1879600"/>
          <a:ext cx="4673600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61790395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41927825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71676171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2748778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92542196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h = 1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h = 3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h = 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Rata-rata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90157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0,25 (terpilih)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0,98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0,968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02822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0,973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34583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826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 (unit information)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0,987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10702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2ED2860-B0BC-08F1-B4C1-166A00A81918}"/>
              </a:ext>
            </a:extLst>
          </p:cNvPr>
          <p:cNvSpPr txBox="1"/>
          <p:nvPr/>
        </p:nvSpPr>
        <p:spPr>
          <a:xfrm>
            <a:off x="6959600" y="40640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Sesuai Wright (2008): shrinkage paling kuat paling akurat untuk kurs. Setelah validation, g dikunci ke 0,25 agar run lebih cepat.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443F23-5D50-DDAC-33B0-6E4D4AEB48C3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FF9581-8531-9308-989E-E0CD8E8B3B69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nn-NO" sz="1050">
                <a:solidFill>
                  <a:srgbClr val="262626"/>
                </a:solidFill>
                <a:latin typeface="Arial" panose="020B0604020202020204" pitchFamily="34" charset="0"/>
              </a:rPr>
              <a:t>Relative RMSE = RMSE BMA ÷ RMSE random walk tanpa drift; di bawah 1 berarti lebih akurat.</a:t>
            </a:r>
            <a:endParaRPr lang="en-ID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2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A2B6-C645-6953-53B8-EC854567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Tidak ada prediktor dominan: PIP berkisar 0,45–0,70 dan bobot model tersebar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2094D-C571-5503-29D7-B5BD09C1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168400"/>
            <a:ext cx="9525000" cy="317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C90858-AF41-C2AF-31BF-4784C4F67704}"/>
              </a:ext>
            </a:extLst>
          </p:cNvPr>
          <p:cNvSpPr txBox="1"/>
          <p:nvPr/>
        </p:nvSpPr>
        <p:spPr>
          <a:xfrm>
            <a:off x="558800" y="4419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100" b="1">
                <a:solidFill>
                  <a:srgbClr val="000000"/>
                </a:solidFill>
                <a:latin typeface="Arial" panose="020B0604020202020204" pitchFamily="34" charset="0"/>
              </a:rPr>
              <a:t>Lima model dengan probabilitas posterior tertinggi, h = 3 (sepuluh teratas hanya ±29% bobot)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05405A-F106-5235-1483-178751790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02295"/>
              </p:ext>
            </p:extLst>
          </p:nvPr>
        </p:nvGraphicFramePr>
        <p:xfrm>
          <a:off x="558800" y="4699000"/>
          <a:ext cx="110744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710924252"/>
                    </a:ext>
                  </a:extLst>
                </a:gridCol>
                <a:gridCol w="6121400">
                  <a:extLst>
                    <a:ext uri="{9D8B030D-6E8A-4147-A177-3AD203B41FA5}">
                      <a16:colId xmlns:a16="http://schemas.microsoft.com/office/drawing/2014/main" val="1969975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423421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14263773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Peringkat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0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Prediktor dalam model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Probabilitas posterior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Jumlah prediktor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55335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+ UST10Y + flows + trade balance</a:t>
                      </a:r>
                      <a:endParaRPr lang="en-ID" sz="10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3,3%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2365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+ DXY + UST10Y + flows + trade balance</a:t>
                      </a:r>
                      <a:endParaRPr lang="en-ID" sz="10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2200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+ UST10Y + flows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79303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+ UST10Y + flows + trade balance + cadangan</a:t>
                      </a:r>
                      <a:endParaRPr lang="en-ID" sz="10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0317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+ UST10Y + trade balance</a:t>
                      </a:r>
                      <a:endParaRPr lang="en-ID" sz="105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2,8%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0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11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162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5E07-A901-B472-0EF4-F1739A43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Forecast BMA: drift ±0,3% per bulan membawa rupiah ke 18.196 pada Mar 2027</a:t>
            </a:r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E2A893-A219-34F7-604A-B63FEC884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395158"/>
              </p:ext>
            </p:extLst>
          </p:nvPr>
        </p:nvGraphicFramePr>
        <p:xfrm>
          <a:off x="558800" y="1333500"/>
          <a:ext cx="67310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347098774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9942037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6475262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3973033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9278583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vs Sep-26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Rentang 80%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Rentang 95%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33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Okt 2026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+0,32%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17.927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17.408–18.461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17.139–18.751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0822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Nov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+0,64%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17.985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17.286–18.712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16.927–19.108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9839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Des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+1,04%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18.057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17.270–18.880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16.867–19.331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125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Jan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+1,26%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18.097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17.256–18.979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16.827–19.463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888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Feb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+1,52%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18.143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17.242–19.091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16.783–19.613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071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Mar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+1,81%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18.196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17.254–19.190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16.775–19.738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3883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47FAB39-4170-3686-81AC-8E83D5FE141E}"/>
              </a:ext>
            </a:extLst>
          </p:cNvPr>
          <p:cNvSpPr/>
          <p:nvPr/>
        </p:nvSpPr>
        <p:spPr>
          <a:xfrm>
            <a:off x="7620000" y="1333500"/>
            <a:ext cx="4013200" cy="2222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t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Mengapa baseline naik bertahap?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Konstanta (rata-rata depresiasi historis, ±0,3% per bulan) ada di semua 64 model dan tidak di-shrink.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Prediktor hanya menggeser sedikit: koefisien tinggal 20% dari OLS dan PIP sekitar 0,5.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Rentang melebar seiring horizon: simpangan baku perubahan 2,3% (1 bulan) menjadi 4,1% (6 bulan).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15A505-3B38-9B89-F18A-6FCE7DE398F6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5BC2DB-CD9F-D70E-B463-207919965B84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Anchor Sep 2026 = 17.870. Rentang dari mean dan simpangan baku predictive BMA (pendekatan normal untuk campuran 64 model).</a:t>
            </a:r>
          </a:p>
        </p:txBody>
      </p:sp>
    </p:spTree>
    <p:extLst>
      <p:ext uri="{BB962C8B-B14F-4D97-AF65-F5344CB8AC3E}">
        <p14:creationId xmlns:p14="http://schemas.microsoft.com/office/powerpoint/2010/main" val="3762006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Efek skenario: BVARX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04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452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F1E3-1845-75E7-112A-90E48F32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BVARX: sistem empat variabel diramal bersama, lalu dikondisikan pada jalur skenario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6B932-1704-7F2C-BB3A-F48E2DE9219F}"/>
              </a:ext>
            </a:extLst>
          </p:cNvPr>
          <p:cNvSpPr txBox="1"/>
          <p:nvPr/>
        </p:nvSpPr>
        <p:spPr>
          <a:xfrm>
            <a:off x="5588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D3267-8D6F-81D0-A749-F003B7A3838E}"/>
              </a:ext>
            </a:extLst>
          </p:cNvPr>
          <p:cNvSpPr txBox="1"/>
          <p:nvPr/>
        </p:nvSpPr>
        <p:spPr>
          <a:xfrm>
            <a:off x="28956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ESTIMASI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CF47F-660B-3F5F-8CF3-5819214CBD3A}"/>
              </a:ext>
            </a:extLst>
          </p:cNvPr>
          <p:cNvSpPr txBox="1"/>
          <p:nvPr/>
        </p:nvSpPr>
        <p:spPr>
          <a:xfrm>
            <a:off x="52324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SIMULASI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71CFB-9A01-9BF1-565A-1CF4D0215CE7}"/>
              </a:ext>
            </a:extLst>
          </p:cNvPr>
          <p:cNvSpPr txBox="1"/>
          <p:nvPr/>
        </p:nvSpPr>
        <p:spPr>
          <a:xfrm>
            <a:off x="75692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KONDISI SKENARIO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87DA3-6A5D-08C1-6681-06C07160720C}"/>
              </a:ext>
            </a:extLst>
          </p:cNvPr>
          <p:cNvSpPr txBox="1"/>
          <p:nvPr/>
        </p:nvSpPr>
        <p:spPr>
          <a:xfrm>
            <a:off x="10096500" y="1270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00" b="1">
                <a:solidFill>
                  <a:srgbClr val="000000"/>
                </a:solidFill>
                <a:latin typeface="Arial" panose="020B0604020202020204" pitchFamily="34" charset="0"/>
              </a:rPr>
              <a:t>OUTPUT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AE3108-B6A1-5FF6-62FB-6E6EF34DC1BC}"/>
              </a:ext>
            </a:extLst>
          </p:cNvPr>
          <p:cNvCxnSpPr/>
          <p:nvPr/>
        </p:nvCxnSpPr>
        <p:spPr>
          <a:xfrm>
            <a:off x="558800" y="152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C5D8012-A4C9-066F-4A5B-00CB22B2C103}"/>
              </a:ext>
            </a:extLst>
          </p:cNvPr>
          <p:cNvSpPr/>
          <p:nvPr/>
        </p:nvSpPr>
        <p:spPr>
          <a:xfrm>
            <a:off x="558800" y="16256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Endogen (4)</a:t>
            </a:r>
          </a:p>
          <a:p>
            <a:pPr>
              <a:spcAft>
                <a:spcPts val="200"/>
              </a:spcAft>
            </a:pP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Δ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USD/IDR, trade balance, net flows, </a:t>
            </a: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Δ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cadangan; lag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7F8DDE-7B8F-27D5-1B63-24115595DF6B}"/>
              </a:ext>
            </a:extLst>
          </p:cNvPr>
          <p:cNvSpPr/>
          <p:nvPr/>
        </p:nvSpPr>
        <p:spPr>
          <a:xfrm>
            <a:off x="558800" y="28194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Eksogen</a:t>
            </a:r>
          </a:p>
          <a:p>
            <a:pPr>
              <a:spcAft>
                <a:spcPts val="200"/>
              </a:spcAft>
            </a:pP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Δ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DXY, musiman sin/cos, dummy 4 bulan ekstrem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E270DE-88C2-FD2E-0FAF-8C559E715586}"/>
              </a:ext>
            </a:extLst>
          </p:cNvPr>
          <p:cNvSpPr/>
          <p:nvPr/>
        </p:nvSpPr>
        <p:spPr>
          <a:xfrm>
            <a:off x="558800" y="4013200"/>
            <a:ext cx="1905000" cy="1016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Prior Minnesota</a:t>
            </a:r>
          </a:p>
          <a:p>
            <a:pPr>
              <a:spcAft>
                <a:spcPts val="200"/>
              </a:spcAft>
            </a:pP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λ = 0,03;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lag trade balance berpusat di 0,7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477E8B-E16D-8E5D-3482-06ECD06661F4}"/>
              </a:ext>
            </a:extLst>
          </p:cNvPr>
          <p:cNvSpPr/>
          <p:nvPr/>
        </p:nvSpPr>
        <p:spPr>
          <a:xfrm>
            <a:off x="2895600" y="2692400"/>
            <a:ext cx="19050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Posterior konjugat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Matrix-normal inverse-Wishart (bentuk tertutup)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02 · bv_fit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F17A0-FEED-C738-7F7B-1792744A3D1E}"/>
              </a:ext>
            </a:extLst>
          </p:cNvPr>
          <p:cNvSpPr/>
          <p:nvPr/>
        </p:nvSpPr>
        <p:spPr>
          <a:xfrm>
            <a:off x="5232400" y="2692400"/>
            <a:ext cx="19050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6.000 draw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Parameter dan jalur bebas Y = </a:t>
            </a: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μ +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G·z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02 · bv_predict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11EC38-06E7-1B89-794B-DFCAE6B70101}"/>
              </a:ext>
            </a:extLst>
          </p:cNvPr>
          <p:cNvSpPr/>
          <p:nvPr/>
        </p:nvSpPr>
        <p:spPr>
          <a:xfrm>
            <a:off x="7569200" y="2692400"/>
            <a:ext cx="2095500" cy="1270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Conditional forecast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Kunci jalur DXY; TB dan flows di Des-26 dan Mar-27</a:t>
            </a:r>
          </a:p>
          <a:p>
            <a:pPr>
              <a:spcAft>
                <a:spcPts val="200"/>
              </a:spcAft>
            </a:pPr>
            <a:r>
              <a:rPr lang="en-ID" sz="900">
                <a:solidFill>
                  <a:srgbClr val="595959"/>
                </a:solidFill>
                <a:latin typeface="Arial" panose="020B0604020202020204" pitchFamily="34" charset="0"/>
              </a:rPr>
              <a:t>Waggoner &amp; Zha (1999)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BB7628-0B86-FF3D-7C70-DDC6C673ABA3}"/>
              </a:ext>
            </a:extLst>
          </p:cNvPr>
          <p:cNvSpPr/>
          <p:nvPr/>
        </p:nvSpPr>
        <p:spPr>
          <a:xfrm>
            <a:off x="7569200" y="4191000"/>
            <a:ext cx="2095500" cy="838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Asumsi skenario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Upside, Adverse, Severe Adverse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123987-B6F8-E0EA-664F-6F69FB368F7A}"/>
              </a:ext>
            </a:extLst>
          </p:cNvPr>
          <p:cNvSpPr/>
          <p:nvPr/>
        </p:nvSpPr>
        <p:spPr>
          <a:xfrm>
            <a:off x="10096500" y="2692400"/>
            <a:ext cx="1536700" cy="12700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FFFFFF"/>
                </a:solidFill>
                <a:latin typeface="Arial" panose="020B0604020202020204" pitchFamily="34" charset="0"/>
              </a:rPr>
              <a:t>Jalur kurs per skenario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FFFFFF"/>
                </a:solidFill>
                <a:latin typeface="Arial" panose="020B0604020202020204" pitchFamily="34" charset="0"/>
              </a:rPr>
              <a:t>→ rasio skenario ÷ baseline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331141-E2B5-E260-D4F4-4091725F9400}"/>
              </a:ext>
            </a:extLst>
          </p:cNvPr>
          <p:cNvCxnSpPr/>
          <p:nvPr/>
        </p:nvCxnSpPr>
        <p:spPr>
          <a:xfrm>
            <a:off x="2463800" y="21336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D789D2-E5A9-08B9-5BEC-9C20D2816200}"/>
              </a:ext>
            </a:extLst>
          </p:cNvPr>
          <p:cNvCxnSpPr/>
          <p:nvPr/>
        </p:nvCxnSpPr>
        <p:spPr>
          <a:xfrm>
            <a:off x="2463800" y="33274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427F2E-9A8B-BC56-8756-6A20540BCF6D}"/>
              </a:ext>
            </a:extLst>
          </p:cNvPr>
          <p:cNvCxnSpPr/>
          <p:nvPr/>
        </p:nvCxnSpPr>
        <p:spPr>
          <a:xfrm>
            <a:off x="2463800" y="4521200"/>
            <a:ext cx="2159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FD962D-49CF-ACAA-70AF-786EAB0BBDCA}"/>
              </a:ext>
            </a:extLst>
          </p:cNvPr>
          <p:cNvCxnSpPr/>
          <p:nvPr/>
        </p:nvCxnSpPr>
        <p:spPr>
          <a:xfrm>
            <a:off x="2679700" y="2133600"/>
            <a:ext cx="0" cy="23876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AD6462-A8A8-DD5B-4DE2-A0F7DCAD39AF}"/>
              </a:ext>
            </a:extLst>
          </p:cNvPr>
          <p:cNvCxnSpPr/>
          <p:nvPr/>
        </p:nvCxnSpPr>
        <p:spPr>
          <a:xfrm>
            <a:off x="2679700" y="3327400"/>
            <a:ext cx="2159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370140-B594-9FDA-630A-8394376AC641}"/>
              </a:ext>
            </a:extLst>
          </p:cNvPr>
          <p:cNvCxnSpPr/>
          <p:nvPr/>
        </p:nvCxnSpPr>
        <p:spPr>
          <a:xfrm>
            <a:off x="4800600" y="33274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772127-5DDC-778E-1737-37C1F77C171B}"/>
              </a:ext>
            </a:extLst>
          </p:cNvPr>
          <p:cNvCxnSpPr/>
          <p:nvPr/>
        </p:nvCxnSpPr>
        <p:spPr>
          <a:xfrm>
            <a:off x="7137400" y="33274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6CF5DC-5284-467A-3E0B-EF9876AFDA71}"/>
              </a:ext>
            </a:extLst>
          </p:cNvPr>
          <p:cNvCxnSpPr/>
          <p:nvPr/>
        </p:nvCxnSpPr>
        <p:spPr>
          <a:xfrm>
            <a:off x="9664700" y="3327400"/>
            <a:ext cx="431800" cy="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5DF64B-BB8A-32AB-4F5E-56260C9157A5}"/>
              </a:ext>
            </a:extLst>
          </p:cNvPr>
          <p:cNvCxnSpPr/>
          <p:nvPr/>
        </p:nvCxnSpPr>
        <p:spPr>
          <a:xfrm flipV="1">
            <a:off x="8610600" y="39624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D18523-38E6-C045-C372-5E4F7E0C57DC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B7D6B9-6B1F-E80F-7D46-FCB23B3C55AE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Sampel Jan 2014–Agu 2026 (152 bulan). Sep 2026 dijembatani dengan data yang sudah teramati (kurs, flows, cadangan). Rasio per bulan dipakai untuk menggeser baseline BMA.</a:t>
            </a:r>
          </a:p>
        </p:txBody>
      </p:sp>
    </p:spTree>
    <p:extLst>
      <p:ext uri="{BB962C8B-B14F-4D97-AF65-F5344CB8AC3E}">
        <p14:creationId xmlns:p14="http://schemas.microsoft.com/office/powerpoint/2010/main" val="4151345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CE80-1816-BCC3-9957-EA6F99BF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Spesifikasi dan prior BVARX dipilih di validation dari 48 kombinasi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0FABE15-F61B-6F69-6C33-036B34A1B746}"/>
              </a:ext>
            </a:extLst>
          </p:cNvPr>
          <p:cNvCxnSpPr/>
          <p:nvPr/>
        </p:nvCxnSpPr>
        <p:spPr>
          <a:xfrm>
            <a:off x="558800" y="1270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7F47F6-F037-4631-9E09-9482AC46D519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1E858-3C18-FBA4-0BE2-2CF612F5240D}"/>
              </a:ext>
            </a:extLst>
          </p:cNvPr>
          <p:cNvSpPr txBox="1"/>
          <p:nvPr/>
        </p:nvSpPr>
        <p:spPr>
          <a:xfrm>
            <a:off x="1346200" y="1384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Sistem dalam perubahan (changes)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y = [100 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Δ</a:t>
            </a: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ln USD/IDR, trade balance, net flows/10, 100 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Δ</a:t>
            </a: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ln cadangan]; lag 2; versi level menarik kurs ke rata-rata sampel.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E2ADDB-EB75-21EA-78B9-C89CFCB40416}"/>
              </a:ext>
            </a:extLst>
          </p:cNvPr>
          <p:cNvCxnSpPr/>
          <p:nvPr/>
        </p:nvCxnSpPr>
        <p:spPr>
          <a:xfrm>
            <a:off x="558800" y="2286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955F7A-E8D0-D622-832F-571E65CD5B1E}"/>
              </a:ext>
            </a:extLst>
          </p:cNvPr>
          <p:cNvSpPr txBox="1"/>
          <p:nvPr/>
        </p:nvSpPr>
        <p:spPr>
          <a:xfrm>
            <a:off x="558800" y="2387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816CD-B0D5-1C78-14BF-F4769B066007}"/>
              </a:ext>
            </a:extLst>
          </p:cNvPr>
          <p:cNvSpPr txBox="1"/>
          <p:nvPr/>
        </p:nvSpPr>
        <p:spPr>
          <a:xfrm>
            <a:off x="1346200" y="2400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Eksogen: dolar global, musiman, dan bulan ekstrem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100 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Δ</a:t>
            </a: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ln DXY; sin/cos 12 dan 6 bulan; impulse dummy Okt 2015, Nov 2018, Mar 2020, Apr 2020 (|</a:t>
            </a:r>
            <a:r>
              <a:rPr lang="el-GR" sz="1200">
                <a:solidFill>
                  <a:srgbClr val="262626"/>
                </a:solidFill>
                <a:latin typeface="Arial" panose="020B0604020202020204" pitchFamily="34" charset="0"/>
              </a:rPr>
              <a:t>Δ </a:t>
            </a: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kurs| &gt; 2,5 sd).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DE3F3E-9F7E-7FEA-1639-237CBE06D156}"/>
              </a:ext>
            </a:extLst>
          </p:cNvPr>
          <p:cNvCxnSpPr/>
          <p:nvPr/>
        </p:nvCxnSpPr>
        <p:spPr>
          <a:xfrm>
            <a:off x="558800" y="3302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A7056F-C9CA-8585-C769-82BD6559FFAE}"/>
              </a:ext>
            </a:extLst>
          </p:cNvPr>
          <p:cNvSpPr txBox="1"/>
          <p:nvPr/>
        </p:nvSpPr>
        <p:spPr>
          <a:xfrm>
            <a:off x="558800" y="340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9ECF0-05CC-3DD6-950B-E9A2137921FD}"/>
              </a:ext>
            </a:extLst>
          </p:cNvPr>
          <p:cNvSpPr txBox="1"/>
          <p:nvPr/>
        </p:nvSpPr>
        <p:spPr>
          <a:xfrm>
            <a:off x="1346200" y="3416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nn-NO" sz="1500" b="1">
                <a:solidFill>
                  <a:srgbClr val="000000"/>
                </a:solidFill>
                <a:latin typeface="Arial" panose="020B0604020202020204" pitchFamily="34" charset="0"/>
              </a:rPr>
              <a:t>Prior Minnesota konjugat yang ketat</a:t>
            </a:r>
          </a:p>
          <a:p>
            <a:pPr>
              <a:spcAft>
                <a:spcPts val="200"/>
              </a:spcAft>
            </a:pPr>
            <a:r>
              <a:rPr lang="nn-NO" sz="1200">
                <a:solidFill>
                  <a:srgbClr val="262626"/>
                </a:solidFill>
                <a:latin typeface="Arial" panose="020B0604020202020204" pitchFamily="34" charset="0"/>
              </a:rPr>
              <a:t>λ = 0,03; koefisien lag berpusat di 0, kecuali lag sendiri trade balance di 0,7 (autokorelasi TB 0,69).</a:t>
            </a:r>
            <a:endParaRPr lang="en-ID" sz="12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5D48EB-4330-4C56-186C-83F92F51DB39}"/>
              </a:ext>
            </a:extLst>
          </p:cNvPr>
          <p:cNvCxnSpPr/>
          <p:nvPr/>
        </p:nvCxnSpPr>
        <p:spPr>
          <a:xfrm>
            <a:off x="558800" y="4318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24C138-6537-3A19-1AA9-1E6E3D347D93}"/>
              </a:ext>
            </a:extLst>
          </p:cNvPr>
          <p:cNvSpPr txBox="1"/>
          <p:nvPr/>
        </p:nvSpPr>
        <p:spPr>
          <a:xfrm>
            <a:off x="558800" y="4419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FC5F3B-0656-BCA8-803E-0DF345A57C7A}"/>
              </a:ext>
            </a:extLst>
          </p:cNvPr>
          <p:cNvSpPr txBox="1"/>
          <p:nvPr/>
        </p:nvSpPr>
        <p:spPr>
          <a:xfrm>
            <a:off x="1346200" y="4432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Diuji tetapi tidak terpilih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VIX, UST10Y, selisih BI rate − Fed funds, dan prior UIP tidak memperbaiki akurasi validation.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A20110-484E-E1D5-52E7-2F0B883EF759}"/>
              </a:ext>
            </a:extLst>
          </p:cNvPr>
          <p:cNvCxnSpPr/>
          <p:nvPr/>
        </p:nvCxnSpPr>
        <p:spPr>
          <a:xfrm>
            <a:off x="558800" y="5334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FB02E8-004D-A3E8-7C6B-525EA68BEDD4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300C30-0121-8479-9098-C929F7F7872B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Grid validation: start year 2013/2014/2017 × lag 1/2 × </a:t>
            </a:r>
            <a:r>
              <a:rPr lang="el-GR" sz="1050">
                <a:solidFill>
                  <a:srgbClr val="262626"/>
                </a:solidFill>
                <a:latin typeface="Arial" panose="020B0604020202020204" pitchFamily="34" charset="0"/>
              </a:rPr>
              <a:t>λ 0,03/0,05/0,10/0,30 × </a:t>
            </a: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prior UIP; aturan tie memilih model yang lebih sederhana bila skor dalam 1%.</a:t>
            </a:r>
          </a:p>
        </p:txBody>
      </p:sp>
    </p:spTree>
    <p:extLst>
      <p:ext uri="{BB962C8B-B14F-4D97-AF65-F5344CB8AC3E}">
        <p14:creationId xmlns:p14="http://schemas.microsoft.com/office/powerpoint/2010/main" val="154143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E367-17CD-B3AC-09C3-1878D53D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Skenario dihitung dengan mengunci jalur DXY, TB, dan flows (Waggoner &amp; Zha, 1999)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EB3A24-2EF9-87BF-AAE7-B3CBD65E6338}"/>
              </a:ext>
            </a:extLst>
          </p:cNvPr>
          <p:cNvCxnSpPr/>
          <p:nvPr/>
        </p:nvCxnSpPr>
        <p:spPr>
          <a:xfrm>
            <a:off x="558800" y="12700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6332B12-1366-B05E-E7C8-57125645F7D2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2742A-E7D4-8EB1-BC27-5685B70718BC}"/>
              </a:ext>
            </a:extLst>
          </p:cNvPr>
          <p:cNvSpPr txBox="1"/>
          <p:nvPr/>
        </p:nvSpPr>
        <p:spPr>
          <a:xfrm>
            <a:off x="1346200" y="1384300"/>
            <a:ext cx="556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Draw parameter dari posterior</a:t>
            </a:r>
          </a:p>
          <a:p>
            <a:pPr>
              <a:spcAft>
                <a:spcPts val="200"/>
              </a:spcAft>
            </a:pPr>
            <a:r>
              <a:rPr lang="el-GR" sz="1100">
                <a:solidFill>
                  <a:srgbClr val="262626"/>
                </a:solidFill>
                <a:latin typeface="Arial" panose="020B0604020202020204" pitchFamily="34" charset="0"/>
              </a:rPr>
              <a:t>Σ ~ </a:t>
            </a: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inverse-Wishart, koefisien ~ matrix-normal; 6.000 draw.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BE2DBF-EF2C-210E-A36F-04E2D57DF1DE}"/>
              </a:ext>
            </a:extLst>
          </p:cNvPr>
          <p:cNvCxnSpPr/>
          <p:nvPr/>
        </p:nvCxnSpPr>
        <p:spPr>
          <a:xfrm>
            <a:off x="558800" y="21082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348B24-C0AD-BBB2-F7AB-C758EDE449FB}"/>
              </a:ext>
            </a:extLst>
          </p:cNvPr>
          <p:cNvSpPr txBox="1"/>
          <p:nvPr/>
        </p:nvSpPr>
        <p:spPr>
          <a:xfrm>
            <a:off x="558800" y="22098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E06FE-8CD6-C872-5556-1F66EE32634F}"/>
              </a:ext>
            </a:extLst>
          </p:cNvPr>
          <p:cNvSpPr txBox="1"/>
          <p:nvPr/>
        </p:nvSpPr>
        <p:spPr>
          <a:xfrm>
            <a:off x="1346200" y="2222500"/>
            <a:ext cx="556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Bangun jalur bebas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Y = </a:t>
            </a:r>
            <a:r>
              <a:rPr lang="el-GR" sz="1100">
                <a:solidFill>
                  <a:srgbClr val="262626"/>
                </a:solidFill>
                <a:latin typeface="Arial" panose="020B0604020202020204" pitchFamily="34" charset="0"/>
              </a:rPr>
              <a:t>μ + </a:t>
            </a: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G·z: forecast tanpa kondisi beserta ketidakpastiannya.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2C9C18-FB2C-EB1F-73A1-0B3DCA6ADDE4}"/>
              </a:ext>
            </a:extLst>
          </p:cNvPr>
          <p:cNvCxnSpPr/>
          <p:nvPr/>
        </p:nvCxnSpPr>
        <p:spPr>
          <a:xfrm>
            <a:off x="558800" y="29464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AA4F0F-CF8E-86A9-C258-AE0546D4DB3A}"/>
              </a:ext>
            </a:extLst>
          </p:cNvPr>
          <p:cNvSpPr txBox="1"/>
          <p:nvPr/>
        </p:nvSpPr>
        <p:spPr>
          <a:xfrm>
            <a:off x="558800" y="3048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DAEC5-B63C-AE39-8D6D-7CB8B88BCE22}"/>
              </a:ext>
            </a:extLst>
          </p:cNvPr>
          <p:cNvSpPr txBox="1"/>
          <p:nvPr/>
        </p:nvSpPr>
        <p:spPr>
          <a:xfrm>
            <a:off x="1346200" y="3060700"/>
            <a:ext cx="556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Kunci kondisi skenario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R·Y = r: z dikoreksi agar jalur tepat memenuhi kondisi DXY, TB, flows.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96C672-F5D9-71D6-8008-652B3AB85B42}"/>
              </a:ext>
            </a:extLst>
          </p:cNvPr>
          <p:cNvCxnSpPr/>
          <p:nvPr/>
        </p:nvCxnSpPr>
        <p:spPr>
          <a:xfrm>
            <a:off x="558800" y="37846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9F9526E-4E6F-0215-1338-BF3B242EFB28}"/>
              </a:ext>
            </a:extLst>
          </p:cNvPr>
          <p:cNvSpPr txBox="1"/>
          <p:nvPr/>
        </p:nvSpPr>
        <p:spPr>
          <a:xfrm>
            <a:off x="558800" y="3886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7FBDD-AC3E-2D87-F42A-DE14028FC6D1}"/>
              </a:ext>
            </a:extLst>
          </p:cNvPr>
          <p:cNvSpPr txBox="1"/>
          <p:nvPr/>
        </p:nvSpPr>
        <p:spPr>
          <a:xfrm>
            <a:off x="1346200" y="3898900"/>
            <a:ext cx="556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Bobot dan resampling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Draw dibobot densitas kondisi; ESS 79–97% (aman).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5B4363-EBED-84ED-0000-E2F46BD0739B}"/>
              </a:ext>
            </a:extLst>
          </p:cNvPr>
          <p:cNvCxnSpPr/>
          <p:nvPr/>
        </p:nvCxnSpPr>
        <p:spPr>
          <a:xfrm>
            <a:off x="558800" y="46228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6410A5F-3E96-CEE7-821F-02B6EFCB2138}"/>
              </a:ext>
            </a:extLst>
          </p:cNvPr>
          <p:cNvSpPr txBox="1"/>
          <p:nvPr/>
        </p:nvSpPr>
        <p:spPr>
          <a:xfrm>
            <a:off x="558800" y="47244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A54424-D042-5416-DF33-EC384A42DF2C}"/>
              </a:ext>
            </a:extLst>
          </p:cNvPr>
          <p:cNvSpPr txBox="1"/>
          <p:nvPr/>
        </p:nvSpPr>
        <p:spPr>
          <a:xfrm>
            <a:off x="1346200" y="4737100"/>
            <a:ext cx="556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it-IT" sz="1350" b="1">
                <a:solidFill>
                  <a:srgbClr val="000000"/>
                </a:solidFill>
                <a:latin typeface="Arial" panose="020B0604020202020204" pitchFamily="34" charset="0"/>
              </a:rPr>
              <a:t>Rasio skenario</a:t>
            </a:r>
          </a:p>
          <a:p>
            <a:pPr>
              <a:spcAft>
                <a:spcPts val="200"/>
              </a:spcAft>
            </a:pPr>
            <a:r>
              <a:rPr lang="it-IT" sz="1100">
                <a:solidFill>
                  <a:srgbClr val="262626"/>
                </a:solidFill>
                <a:latin typeface="Arial" panose="020B0604020202020204" pitchFamily="34" charset="0"/>
              </a:rPr>
              <a:t>Median skenario ÷ median baseline per bulan.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33E062E-8540-CDB4-33C3-6D5329060B35}"/>
              </a:ext>
            </a:extLst>
          </p:cNvPr>
          <p:cNvCxnSpPr/>
          <p:nvPr/>
        </p:nvCxnSpPr>
        <p:spPr>
          <a:xfrm>
            <a:off x="558800" y="5461000"/>
            <a:ext cx="6350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E6E89C-3CC4-9A3E-0B85-54480934B2A0}"/>
              </a:ext>
            </a:extLst>
          </p:cNvPr>
          <p:cNvSpPr txBox="1"/>
          <p:nvPr/>
        </p:nvSpPr>
        <p:spPr>
          <a:xfrm>
            <a:off x="7264400" y="13716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Efek kontemporer +1% DXY (bulan yang sama)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3EE906B-05E9-7038-31F7-FFAF13962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82459"/>
              </p:ext>
            </p:extLst>
          </p:nvPr>
        </p:nvGraphicFramePr>
        <p:xfrm>
          <a:off x="7264400" y="1778000"/>
          <a:ext cx="4368800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3229010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735567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7962471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Variabel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Efek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Interval 90%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64556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+0,38%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0,28 s/d 0,49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90102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+0,02 USD bn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−0,07 s/d 0,12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53229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−Rp3,2 tn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−4,9 s/d −1,6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81314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Cadangan devisa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−0,28%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−0,41 s/d −0,15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95264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3B97F32-6227-9498-5F8E-14B96FCED9F4}"/>
              </a:ext>
            </a:extLst>
          </p:cNvPr>
          <p:cNvSpPr txBox="1"/>
          <p:nvPr/>
        </p:nvSpPr>
        <p:spPr>
          <a:xfrm>
            <a:off x="7264400" y="3937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Dolar menguat → rupiah melemah, arus modal keluar, cadangan turun: arah sesuai teori dan signifikan. Dampak lanjutan lewat lag tidak termasuk di tabel ini.</a:t>
            </a:r>
          </a:p>
        </p:txBody>
      </p:sp>
    </p:spTree>
    <p:extLst>
      <p:ext uri="{BB962C8B-B14F-4D97-AF65-F5344CB8AC3E}">
        <p14:creationId xmlns:p14="http://schemas.microsoft.com/office/powerpoint/2010/main" val="743702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A145-020A-F33C-5FDD-FF084FD3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Diagnostik BVARX: persamaan kurs bersih; trade balance dan flows masih berautokorelasi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38194D-3C8A-D21C-BF1D-A900AFA93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365177"/>
              </p:ext>
            </p:extLst>
          </p:nvPr>
        </p:nvGraphicFramePr>
        <p:xfrm>
          <a:off x="558800" y="1333500"/>
          <a:ext cx="6223000" cy="177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67312681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4495798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16482604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8677043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541360750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Persamaan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SD residual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Ljung-Box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Normalitas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Status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7066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1,50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0,90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Bersih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04112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1,37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&lt; 0,001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Autokorelasi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4546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2,37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Autokorelasi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419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l-GR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Δ </a:t>
                      </a:r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cadangan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1,91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Bersih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7582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583A4B-9ED4-0571-963C-DC595F307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39890"/>
              </p:ext>
            </p:extLst>
          </p:nvPr>
        </p:nvGraphicFramePr>
        <p:xfrm>
          <a:off x="558800" y="3429000"/>
          <a:ext cx="4953000" cy="165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0466595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14539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5710948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Skenario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ESS ratio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Akar &gt; 1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7736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0,97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7408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Upside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816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572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0,79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03637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37998CD-870B-3CCF-E14F-EF055B92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899920"/>
            <a:ext cx="4673600" cy="28041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11CAAE-13E3-08ED-BFD3-ABE12D7F9A71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B5DB87-FFDB-E90D-6780-51F771CC1B9C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Interval BVARX dengan dummy terlalu sempit (coverage 80% hanya 0,69 di h = 6), sehingga rentang skenario memakai interval BMA. ESS = jumlah draw efektif; akar &gt; 1 = draw tidak stabil.</a:t>
            </a:r>
          </a:p>
        </p:txBody>
      </p:sp>
    </p:spTree>
    <p:extLst>
      <p:ext uri="{BB962C8B-B14F-4D97-AF65-F5344CB8AC3E}">
        <p14:creationId xmlns:p14="http://schemas.microsoft.com/office/powerpoint/2010/main" val="394865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B591-D521-A578-5A50-5527A11B0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Asumsi skenario: Adverse dan Severe Adverse menekan dolar, neraca dagang, dan arus modal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A4149C-8B7E-D60A-6F1F-8744822E6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931515"/>
              </p:ext>
            </p:extLst>
          </p:nvPr>
        </p:nvGraphicFramePr>
        <p:xfrm>
          <a:off x="558800" y="1270000"/>
          <a:ext cx="11074400" cy="165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0917979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5431466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3827679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0798296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388703875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Skenario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DXY s/d Mar-27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Trade balance vs baseline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Net flows vs baseline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Narasi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06109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datar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jalur model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jalur model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Tidak ada guncangan tambahan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5275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Upside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+USD1 bn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+Rp10 tn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Dolar melemah, ekspor membaik, modal masuk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32092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+2%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−USD1 bn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−Rp10 tn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Dolar menguat moderat, risk-off ringan</a:t>
                      </a:r>
                      <a:endParaRPr lang="en-ID" sz="1100" b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150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+5%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−USD2 bn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−Rp30 tn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Dolar menguat tajam, arus modal keluar besar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35487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B982FA6-D489-0A89-3263-F03ECFB9F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396" y="2997200"/>
            <a:ext cx="6535207" cy="2413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0EF7A2-38B7-761D-424C-7094A8B102AA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BDE98F-4DC8-5194-D39A-6533B44A6956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TB dan flows dikunci di Des-26 dan Mar-27 relatif terhadap median baseline; di antara titik itu model mengikuti dinamikanya. Besaran shock belum dikalibrasi ke persentil historis.</a:t>
            </a:r>
          </a:p>
        </p:txBody>
      </p:sp>
    </p:spTree>
    <p:extLst>
      <p:ext uri="{BB962C8B-B14F-4D97-AF65-F5344CB8AC3E}">
        <p14:creationId xmlns:p14="http://schemas.microsoft.com/office/powerpoint/2010/main" val="3264792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CD10-E52A-0C45-DBA3-CC4D3C78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Efek skenario BVARX: Severe Adverse menggeser kurs +4,1% di atas baseline (Mar-27)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78B876-0E57-3B05-AF97-CB5CC4E40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84957"/>
              </p:ext>
            </p:extLst>
          </p:nvPr>
        </p:nvGraphicFramePr>
        <p:xfrm>
          <a:off x="558800" y="1333500"/>
          <a:ext cx="58420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8821343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0992558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5981094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7286098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Upside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Adverse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536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Okt 2026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−0,17%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+0,18%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+0,42%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3867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Nov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−0,37%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+0,34%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+0,87%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1216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Des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−0,85%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+0,71%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+2,03%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9810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Jan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−0,99%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+0,90%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+2,41%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5010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Feb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−1,16%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+1,04%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+2,84%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9570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Mar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−1,49%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+1,48%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+4,06%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86352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1E003FF-0E77-BE9C-629A-64C7B9CA4B68}"/>
              </a:ext>
            </a:extLst>
          </p:cNvPr>
          <p:cNvSpPr/>
          <p:nvPr/>
        </p:nvSpPr>
        <p:spPr>
          <a:xfrm>
            <a:off x="6756400" y="1333500"/>
            <a:ext cx="4876800" cy="23495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t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Cara membaca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Angka = median skenario BVARX ÷ median baseline BVARX − 1, per bulan. Persentase ini yang dipakai menggeser baseline BMA.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Lonjakan Des-26 dan Mar-27: di bulan itu TB dan flows dikunci pada nilai tertekan.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Upside dan Adverse hampir simetris (±1,5% pada Mar-27). DXY +5% saja menyumbang kira-kira 0,38% × 5 ≈ 1,9%; sisanya dari flows dan TB.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8B3B26-3365-B979-F663-0D6E66E258AA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B949477-3C75-0595-06B1-FBC136E02B37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Sumber: T15_hybrid_scenarios (kolom scen_shift_pct).</a:t>
            </a:r>
          </a:p>
        </p:txBody>
      </p:sp>
    </p:spTree>
    <p:extLst>
      <p:ext uri="{BB962C8B-B14F-4D97-AF65-F5344CB8AC3E}">
        <p14:creationId xmlns:p14="http://schemas.microsoft.com/office/powerpoint/2010/main" val="2525991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Skenario dan hasil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05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214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0A41-8739-1E89-77BD-BF11C040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Penggabungan: baseline BMA digeser sebesar efek skenario dari BVARX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9C87C-2B9E-DA9C-CFDF-4BE756931CBB}"/>
              </a:ext>
            </a:extLst>
          </p:cNvPr>
          <p:cNvSpPr/>
          <p:nvPr/>
        </p:nvSpPr>
        <p:spPr>
          <a:xfrm>
            <a:off x="558800" y="1270000"/>
            <a:ext cx="11074400" cy="635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Skenario(s, bulan)  =  Baseline BMA(bulan)  ×  [ median skenario BVARX(s, bulan)  ÷  median baseline BVARX(bulan)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A69D0-A588-AB78-6C7E-807A2E83E876}"/>
              </a:ext>
            </a:extLst>
          </p:cNvPr>
          <p:cNvSpPr txBox="1"/>
          <p:nvPr/>
        </p:nvSpPr>
        <p:spPr>
          <a:xfrm>
            <a:off x="558800" y="2133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Contoh: Severe Adverse, Mar 2027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6221E0-7822-55D4-B837-5C1C640D7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264456"/>
              </p:ext>
            </p:extLst>
          </p:nvPr>
        </p:nvGraphicFramePr>
        <p:xfrm>
          <a:off x="558800" y="2438400"/>
          <a:ext cx="53340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51842373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8205899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Komponen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Nilai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72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 BMA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18.196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18399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 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18.073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73919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 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18.806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3689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Rasio = 18.806 ÷ 18.073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1,0406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55503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 = 18.196 × 1,0406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18.935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00572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4C4F36-C511-553D-5759-F038A1BBBEA7}"/>
              </a:ext>
            </a:extLst>
          </p:cNvPr>
          <p:cNvCxnSpPr/>
          <p:nvPr/>
        </p:nvCxnSpPr>
        <p:spPr>
          <a:xfrm>
            <a:off x="6248400" y="2133600"/>
            <a:ext cx="53848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BD7436-6F66-9AD4-F560-4799568C6E7F}"/>
              </a:ext>
            </a:extLst>
          </p:cNvPr>
          <p:cNvSpPr txBox="1"/>
          <p:nvPr/>
        </p:nvSpPr>
        <p:spPr>
          <a:xfrm>
            <a:off x="6248400" y="2235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9E123-7EA4-2B2D-684C-608B83F9953F}"/>
              </a:ext>
            </a:extLst>
          </p:cNvPr>
          <p:cNvSpPr txBox="1"/>
          <p:nvPr/>
        </p:nvSpPr>
        <p:spPr>
          <a:xfrm>
            <a:off x="7035800" y="22479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50" b="1">
                <a:solidFill>
                  <a:srgbClr val="000000"/>
                </a:solidFill>
                <a:latin typeface="Arial" panose="020B0604020202020204" pitchFamily="34" charset="0"/>
              </a:rPr>
              <a:t>Baseline murni BMA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262626"/>
                </a:solidFill>
                <a:latin typeface="Arial" panose="020B0604020202020204" pitchFamily="34" charset="0"/>
              </a:rPr>
              <a:t>Model paling akurat out-of-sample menentukan level.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E7B64C-CF4B-4791-0B86-9F5EFA940C71}"/>
              </a:ext>
            </a:extLst>
          </p:cNvPr>
          <p:cNvCxnSpPr/>
          <p:nvPr/>
        </p:nvCxnSpPr>
        <p:spPr>
          <a:xfrm>
            <a:off x="6248400" y="3098800"/>
            <a:ext cx="53848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A01D51-BF6F-5F54-31DE-E5146F7CA69F}"/>
              </a:ext>
            </a:extLst>
          </p:cNvPr>
          <p:cNvSpPr txBox="1"/>
          <p:nvPr/>
        </p:nvSpPr>
        <p:spPr>
          <a:xfrm>
            <a:off x="6248400" y="32004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ED8AF-7584-AFC5-6AB9-0A56F0C17298}"/>
              </a:ext>
            </a:extLst>
          </p:cNvPr>
          <p:cNvSpPr txBox="1"/>
          <p:nvPr/>
        </p:nvSpPr>
        <p:spPr>
          <a:xfrm>
            <a:off x="7035800" y="32131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BVARX hanya memberi persentase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Level skenario tetap berjangkar pada BMA.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87E28C-2331-EDF0-7776-EE8C7AA0A1B5}"/>
              </a:ext>
            </a:extLst>
          </p:cNvPr>
          <p:cNvCxnSpPr/>
          <p:nvPr/>
        </p:nvCxnSpPr>
        <p:spPr>
          <a:xfrm>
            <a:off x="6248400" y="4064000"/>
            <a:ext cx="53848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D73134-7F9C-60F9-C237-A54F86A768CD}"/>
              </a:ext>
            </a:extLst>
          </p:cNvPr>
          <p:cNvSpPr txBox="1"/>
          <p:nvPr/>
        </p:nvSpPr>
        <p:spPr>
          <a:xfrm>
            <a:off x="6248400" y="4165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190FD-A154-935D-A847-89FC5417E035}"/>
              </a:ext>
            </a:extLst>
          </p:cNvPr>
          <p:cNvSpPr txBox="1"/>
          <p:nvPr/>
        </p:nvSpPr>
        <p:spPr>
          <a:xfrm>
            <a:off x="7035800" y="4178300"/>
            <a:ext cx="459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50" b="1">
                <a:solidFill>
                  <a:srgbClr val="000000"/>
                </a:solidFill>
                <a:latin typeface="Arial" panose="020B0604020202020204" pitchFamily="34" charset="0"/>
              </a:rPr>
              <a:t>Rentang ikut digeser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Rentang BMA × rasio yang sama; ketidakpastian skenario belum ditambahkan.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A84CB-3537-C416-FE35-7CDC1E529FEF}"/>
              </a:ext>
            </a:extLst>
          </p:cNvPr>
          <p:cNvCxnSpPr/>
          <p:nvPr/>
        </p:nvCxnSpPr>
        <p:spPr>
          <a:xfrm>
            <a:off x="6248400" y="5029200"/>
            <a:ext cx="53848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A7922F-66EB-3A81-8B65-83F4E57EF97C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60DE4A-02B0-84B2-6218-3E76AB9936F9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Dihitung di 10_hybrid.do untuk setiap bulan Okt 2026–Mar 2027 dan setiap skenario.</a:t>
            </a:r>
          </a:p>
        </p:txBody>
      </p:sp>
    </p:spTree>
    <p:extLst>
      <p:ext uri="{BB962C8B-B14F-4D97-AF65-F5344CB8AC3E}">
        <p14:creationId xmlns:p14="http://schemas.microsoft.com/office/powerpoint/2010/main" val="3077645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EF6D7-6613-3AE2-AFD5-47372FAB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Rupiah melemah bertahap di semua skenario kecuali Upside; Severe Adverse mendekati 18.900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31B33-0AED-0CDE-FF80-B889E539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320800"/>
            <a:ext cx="7112000" cy="4267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DC1522-E260-DC9C-9868-1AFC7C565553}"/>
              </a:ext>
            </a:extLst>
          </p:cNvPr>
          <p:cNvSpPr/>
          <p:nvPr/>
        </p:nvSpPr>
        <p:spPr>
          <a:xfrm>
            <a:off x="7975600" y="1270000"/>
            <a:ext cx="3657600" cy="965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Baseline (BMA) · Mar 2027</a:t>
            </a:r>
          </a:p>
          <a:p>
            <a:pPr>
              <a:spcAft>
                <a:spcPts val="200"/>
              </a:spcAft>
            </a:pPr>
            <a:r>
              <a:rPr lang="en-ID" sz="2200" b="1">
                <a:solidFill>
                  <a:srgbClr val="A5644E"/>
                </a:solidFill>
                <a:latin typeface="Arial" panose="020B0604020202020204" pitchFamily="34" charset="0"/>
              </a:rPr>
              <a:t>18.196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80%: 17.254–19.190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92813-0A8F-71C6-BCFC-B70DD26704BE}"/>
              </a:ext>
            </a:extLst>
          </p:cNvPr>
          <p:cNvSpPr/>
          <p:nvPr/>
        </p:nvSpPr>
        <p:spPr>
          <a:xfrm>
            <a:off x="7975600" y="2362200"/>
            <a:ext cx="3657600" cy="965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pt-BR" sz="1200" b="1">
                <a:solidFill>
                  <a:srgbClr val="000000"/>
                </a:solidFill>
                <a:latin typeface="Arial" panose="020B0604020202020204" pitchFamily="34" charset="0"/>
              </a:rPr>
              <a:t>Upside · Mar 2027</a:t>
            </a:r>
          </a:p>
          <a:p>
            <a:pPr>
              <a:spcAft>
                <a:spcPts val="200"/>
              </a:spcAft>
            </a:pPr>
            <a:r>
              <a:rPr lang="pt-BR" sz="2200" b="1">
                <a:solidFill>
                  <a:srgbClr val="A5644E"/>
                </a:solidFill>
                <a:latin typeface="Arial" panose="020B0604020202020204" pitchFamily="34" charset="0"/>
              </a:rPr>
              <a:t>17.924</a:t>
            </a:r>
          </a:p>
          <a:p>
            <a:pPr>
              <a:spcAft>
                <a:spcPts val="200"/>
              </a:spcAft>
            </a:pPr>
            <a:r>
              <a:rPr lang="pt-BR" sz="1050">
                <a:solidFill>
                  <a:srgbClr val="262626"/>
                </a:solidFill>
                <a:latin typeface="Arial" panose="020B0604020202020204" pitchFamily="34" charset="0"/>
              </a:rPr>
              <a:t>80%: 16.996–18.903</a:t>
            </a:r>
            <a:endParaRPr lang="en-ID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20787-141B-1E58-0722-C32758D6354E}"/>
              </a:ext>
            </a:extLst>
          </p:cNvPr>
          <p:cNvSpPr/>
          <p:nvPr/>
        </p:nvSpPr>
        <p:spPr>
          <a:xfrm>
            <a:off x="7975600" y="3454400"/>
            <a:ext cx="3657600" cy="965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Adverse · Mar 2027</a:t>
            </a:r>
          </a:p>
          <a:p>
            <a:pPr>
              <a:spcAft>
                <a:spcPts val="200"/>
              </a:spcAft>
            </a:pPr>
            <a:r>
              <a:rPr lang="en-ID" sz="2200" b="1">
                <a:solidFill>
                  <a:srgbClr val="A5644E"/>
                </a:solidFill>
                <a:latin typeface="Arial" panose="020B0604020202020204" pitchFamily="34" charset="0"/>
              </a:rPr>
              <a:t>18.465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80%: 17.509–19.473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7CC92-DBC0-B995-EB1F-71BD135166EB}"/>
              </a:ext>
            </a:extLst>
          </p:cNvPr>
          <p:cNvSpPr/>
          <p:nvPr/>
        </p:nvSpPr>
        <p:spPr>
          <a:xfrm>
            <a:off x="7975600" y="4546600"/>
            <a:ext cx="3657600" cy="9652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FFFFFF"/>
                </a:solidFill>
                <a:latin typeface="Arial" panose="020B0604020202020204" pitchFamily="34" charset="0"/>
              </a:rPr>
              <a:t>Severe Adverse · Mar 2027</a:t>
            </a:r>
          </a:p>
          <a:p>
            <a:pPr>
              <a:spcAft>
                <a:spcPts val="200"/>
              </a:spcAft>
            </a:pPr>
            <a:r>
              <a:rPr lang="en-ID" sz="2200" b="1">
                <a:solidFill>
                  <a:srgbClr val="FFFFFF"/>
                </a:solidFill>
                <a:latin typeface="Arial" panose="020B0604020202020204" pitchFamily="34" charset="0"/>
              </a:rPr>
              <a:t>18.935</a:t>
            </a:r>
          </a:p>
          <a:p>
            <a:pPr>
              <a:spcAft>
                <a:spcPts val="200"/>
              </a:spcAft>
            </a:pPr>
            <a:r>
              <a:rPr lang="en-ID" sz="1050">
                <a:solidFill>
                  <a:srgbClr val="FFFFFF"/>
                </a:solidFill>
                <a:latin typeface="Arial" panose="020B0604020202020204" pitchFamily="34" charset="0"/>
              </a:rPr>
              <a:t>80%: 17.954–19.969</a:t>
            </a:r>
          </a:p>
        </p:txBody>
      </p:sp>
    </p:spTree>
    <p:extLst>
      <p:ext uri="{BB962C8B-B14F-4D97-AF65-F5344CB8AC3E}">
        <p14:creationId xmlns:p14="http://schemas.microsoft.com/office/powerpoint/2010/main" val="2611773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832B-D877-3FA8-60A7-C801EA3F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Forecast bulanan per skenario: median dan rentang 80%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19DEE2-23BE-D89D-4747-84582E460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62135"/>
              </p:ext>
            </p:extLst>
          </p:nvPr>
        </p:nvGraphicFramePr>
        <p:xfrm>
          <a:off x="558800" y="1333500"/>
          <a:ext cx="11074400" cy="355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471537671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2494373212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3139006605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3999045180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360578757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Bulan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 (BMA)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Upside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Adverse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2616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Okt 2026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17.927  [17.408–18.461]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17.897  [17.379–18.431]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17.959  [17.439–18.495]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18.002  [17.480–18.539]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8231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Nov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17.985  [17.286–18.712]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17.918  [17.222–18.642]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18.045  [17.344–18.775]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18.141  [17.436–18.874]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0614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Des 2026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18.057  [17.270–18.880]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17.903  [17.122–18.719]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18.184  [17.391–19.013]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18.424  [17.621–19.264]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7603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Jan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18.097  [17.256–18.979]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17.918  [17.086–18.791]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18.259  [17.411–19.149]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18.533  [17.672–19.436]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6744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Feb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18.143  [17.242–19.091]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17.933  [17.042–18.870]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18.332  [17.422–19.291]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18.659  [17.732–19.634]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8841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Mar 2027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18.196  [17.254–19.190]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17.924  [16.996–18.903]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18.465  [17.509–19.473]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18.935  [17.954–19.969]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767930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138D30-A329-B3DB-6416-C551BFA914BA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1943A0B-0F31-9906-10EE-32147F0166CD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IDR per USD. Anchor Sep 2026 = 17.870. Baseline dari BMA; skenario = baseline BMA × efek skenario BVARX.</a:t>
            </a:r>
          </a:p>
        </p:txBody>
      </p:sp>
    </p:spTree>
    <p:extLst>
      <p:ext uri="{BB962C8B-B14F-4D97-AF65-F5344CB8AC3E}">
        <p14:creationId xmlns:p14="http://schemas.microsoft.com/office/powerpoint/2010/main" val="3765751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6E6C-F337-8BD4-0022-B1F6C88E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Ringkasan skenario: asumsi makro dan hasil USD/IDR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085E3B-8C65-472A-EBE8-E88BD5277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098396"/>
              </p:ext>
            </p:extLst>
          </p:nvPr>
        </p:nvGraphicFramePr>
        <p:xfrm>
          <a:off x="558800" y="1333500"/>
          <a:ext cx="11074400" cy="2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9680461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8718165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962497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3984725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616912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73250655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824835169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381123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2674028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Skenario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DXY Mar-27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TB Des-26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TB Mar-27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Flows Des-26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Flows Mar-27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Des-26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USD/IDR Mar-27 [80%]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vs Sep-26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42406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9,4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4,5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18.057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18.196 [17.254–19.190]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+1,8%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3141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Upside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2,6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19,4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14,5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17.903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17.924 [16.996–18.903]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+0,3%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50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+2,0%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−5,5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18.184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18.465 [17.509–19.473]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+3,3%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75617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Severe Adverse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+5,0%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−0,4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−20,6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−25,5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18.424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18.935 [17.954–19.969]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+6,0%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11822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12328BB-599D-E477-1F26-C762A29BB1AA}"/>
              </a:ext>
            </a:extLst>
          </p:cNvPr>
          <p:cNvSpPr/>
          <p:nvPr/>
        </p:nvSpPr>
        <p:spPr>
          <a:xfrm>
            <a:off x="558800" y="4191000"/>
            <a:ext cx="11074400" cy="889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Severe Adverse setara pergerakan rupiah 6 bulan sekitar persentil 80–85 historis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Pergerakan 6 bulan historis (2014–2026): median +1,8%, p75 +4,5%, p90 +7,3%, p95 +8,3%. Kalibrasi ke p90–95 akan membuat Severe Adverse lebih berat.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987299-FDB4-2254-5698-C3EF60C39C15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A25AFE-5759-0BAE-6353-3A49DA1DAABE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TB dalam USD miliar, flows dalam Rp triliun (nilai bulanan). TB dan flows Baseline = median model.</a:t>
            </a:r>
          </a:p>
        </p:txBody>
      </p:sp>
    </p:spTree>
    <p:extLst>
      <p:ext uri="{BB962C8B-B14F-4D97-AF65-F5344CB8AC3E}">
        <p14:creationId xmlns:p14="http://schemas.microsoft.com/office/powerpoint/2010/main" val="1331540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9F88-C9A1-15C8-2865-1B44A523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Baseline BMA sedikit di atas BVARX; keduanya di atas random walk yang datar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62FC2-AB84-E48D-2DF0-D87BC3A9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44600"/>
            <a:ext cx="7366000" cy="4419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D0EDC2-5CCA-C2CD-E7AD-6742EB3797BF}"/>
              </a:ext>
            </a:extLst>
          </p:cNvPr>
          <p:cNvSpPr/>
          <p:nvPr/>
        </p:nvSpPr>
        <p:spPr>
          <a:xfrm>
            <a:off x="8229600" y="1270000"/>
            <a:ext cx="3403600" cy="1092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BMA (baseline) · Mar 2027</a:t>
            </a:r>
          </a:p>
          <a:p>
            <a:pPr>
              <a:spcAft>
                <a:spcPts val="200"/>
              </a:spcAft>
            </a:pPr>
            <a:r>
              <a:rPr lang="en-ID" sz="2200" b="1">
                <a:solidFill>
                  <a:srgbClr val="A5644E"/>
                </a:solidFill>
                <a:latin typeface="Arial" panose="020B0604020202020204" pitchFamily="34" charset="0"/>
              </a:rPr>
              <a:t>18.196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+1,8% vs Sep-26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4ACD7-3889-025D-6FE5-993D166B107F}"/>
              </a:ext>
            </a:extLst>
          </p:cNvPr>
          <p:cNvSpPr/>
          <p:nvPr/>
        </p:nvSpPr>
        <p:spPr>
          <a:xfrm>
            <a:off x="8229600" y="2514600"/>
            <a:ext cx="3403600" cy="1092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200" b="1">
                <a:solidFill>
                  <a:srgbClr val="000000"/>
                </a:solidFill>
                <a:latin typeface="Arial" panose="020B0604020202020204" pitchFamily="34" charset="0"/>
              </a:rPr>
              <a:t>BVARX · Mar 2027</a:t>
            </a:r>
          </a:p>
          <a:p>
            <a:pPr>
              <a:spcAft>
                <a:spcPts val="200"/>
              </a:spcAft>
            </a:pPr>
            <a:r>
              <a:rPr lang="en-ID" sz="2200" b="1">
                <a:solidFill>
                  <a:srgbClr val="A5644E"/>
                </a:solidFill>
                <a:latin typeface="Arial" panose="020B0604020202020204" pitchFamily="34" charset="0"/>
              </a:rPr>
              <a:t>18.073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+1,1% vs Sep-26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83D47-2232-0376-D005-26139BD53DBB}"/>
              </a:ext>
            </a:extLst>
          </p:cNvPr>
          <p:cNvSpPr/>
          <p:nvPr/>
        </p:nvSpPr>
        <p:spPr>
          <a:xfrm>
            <a:off x="8229600" y="3759200"/>
            <a:ext cx="3403600" cy="1092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Random walk · Mar 2027</a:t>
            </a:r>
          </a:p>
          <a:p>
            <a:pPr>
              <a:spcAft>
                <a:spcPts val="200"/>
              </a:spcAft>
            </a:pPr>
            <a:r>
              <a:rPr lang="en-US" sz="2200" b="1">
                <a:solidFill>
                  <a:srgbClr val="A5644E"/>
                </a:solidFill>
                <a:latin typeface="Arial" panose="020B0604020202020204" pitchFamily="34" charset="0"/>
              </a:rPr>
              <a:t>17.870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262626"/>
                </a:solidFill>
                <a:latin typeface="Arial" panose="020B0604020202020204" pitchFamily="34" charset="0"/>
              </a:rPr>
              <a:t>0,0% vs Sep-26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2BAC8-291C-A7BC-995F-2DC0D55E9836}"/>
              </a:ext>
            </a:extLst>
          </p:cNvPr>
          <p:cNvSpPr txBox="1"/>
          <p:nvPr/>
        </p:nvSpPr>
        <p:spPr>
          <a:xfrm>
            <a:off x="8229600" y="5080000"/>
            <a:ext cx="340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Random walk tanpa drift = benchmark: kurs ke depan sama dengan kurs hari ini.</a:t>
            </a:r>
          </a:p>
        </p:txBody>
      </p:sp>
    </p:spTree>
    <p:extLst>
      <p:ext uri="{BB962C8B-B14F-4D97-AF65-F5344CB8AC3E}">
        <p14:creationId xmlns:p14="http://schemas.microsoft.com/office/powerpoint/2010/main" val="730143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95C560-CBEC-71B2-446B-8ABC40A2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3327400"/>
            <a:ext cx="5080000" cy="1143000"/>
          </a:xfrm>
        </p:spPr>
        <p:txBody>
          <a:bodyPr/>
          <a:lstStyle/>
          <a:p>
            <a:r>
              <a:rPr lang="id-ID" sz="2600" b="1"/>
              <a:t>Evaluasi dan keterbatasan</a:t>
            </a:r>
            <a:endParaRPr lang="id-ID" sz="2600" b="1" dirty="0"/>
          </a:p>
        </p:txBody>
      </p:sp>
      <p:sp>
        <p:nvSpPr>
          <p:cNvPr id="300" name="Section number"/>
          <p:cNvSpPr txBox="1"/>
          <p:nvPr/>
        </p:nvSpPr>
        <p:spPr>
          <a:xfrm>
            <a:off x="571500" y="2286000"/>
            <a:ext cx="2540000" cy="965200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/>
          <a:p>
            <a:r>
              <a:rPr lang="id-ID" sz="6000" b="1">
                <a:solidFill>
                  <a:srgbClr val="C3986D"/>
                </a:solidFill>
                <a:latin typeface="Arial"/>
                <a:cs typeface="Arial"/>
              </a:rPr>
              <a:t>06</a:t>
            </a:r>
            <a:endParaRPr lang="id-ID" sz="6000" b="1" dirty="0">
              <a:solidFill>
                <a:srgbClr val="C3986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094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693A-8487-687A-F1FD-01FF8E74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Desain evaluasi: spesifikasi dipilih di validation, akurasi dinilai di test, tanpa data masa depan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E2CA1-44DA-C481-0124-F35AE2FEC850}"/>
              </a:ext>
            </a:extLst>
          </p:cNvPr>
          <p:cNvSpPr/>
          <p:nvPr/>
        </p:nvSpPr>
        <p:spPr>
          <a:xfrm>
            <a:off x="558800" y="1333500"/>
            <a:ext cx="3175000" cy="7112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Data awal estimasi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000000"/>
                </a:solidFill>
                <a:latin typeface="Arial" panose="020B0604020202020204" pitchFamily="34" charset="0"/>
              </a:rPr>
              <a:t>2013/2014–2020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4BABC-7767-2CAF-A3DB-69E08A6AF858}"/>
              </a:ext>
            </a:extLst>
          </p:cNvPr>
          <p:cNvSpPr/>
          <p:nvPr/>
        </p:nvSpPr>
        <p:spPr>
          <a:xfrm>
            <a:off x="3733800" y="1333500"/>
            <a:ext cx="3175000" cy="7112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Validation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Origin Jan 2021–Jun 2023</a:t>
            </a:r>
            <a:endParaRPr lang="en-ID" sz="1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2ABEE-9985-9F6A-3317-6A1AFDF277C0}"/>
              </a:ext>
            </a:extLst>
          </p:cNvPr>
          <p:cNvSpPr/>
          <p:nvPr/>
        </p:nvSpPr>
        <p:spPr>
          <a:xfrm>
            <a:off x="6908800" y="1333500"/>
            <a:ext cx="2921000" cy="711200"/>
          </a:xfrm>
          <a:prstGeom prst="rect">
            <a:avLst/>
          </a:prstGeom>
          <a:solidFill>
            <a:srgbClr val="E3C9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Test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Origin Jan 2024–Feb 2026</a:t>
            </a:r>
            <a:endParaRPr lang="en-ID" sz="1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FFE96-667D-7801-28D0-DCC23A8CA139}"/>
              </a:ext>
            </a:extLst>
          </p:cNvPr>
          <p:cNvSpPr/>
          <p:nvPr/>
        </p:nvSpPr>
        <p:spPr>
          <a:xfrm>
            <a:off x="9829800" y="1333500"/>
            <a:ext cx="1803400" cy="711200"/>
          </a:xfrm>
          <a:prstGeom prst="rect">
            <a:avLst/>
          </a:prstGeom>
          <a:solidFill>
            <a:srgbClr val="A564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FFFFFF"/>
                </a:solidFill>
                <a:latin typeface="Arial" panose="020B0604020202020204" pitchFamily="34" charset="0"/>
              </a:rPr>
              <a:t>Forecast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FFFFFF"/>
                </a:solidFill>
                <a:latin typeface="Arial" panose="020B0604020202020204" pitchFamily="34" charset="0"/>
              </a:rPr>
              <a:t>Okt 2026–Mar 2027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F9D10-82D6-DC97-8029-D90C83B1966A}"/>
              </a:ext>
            </a:extLst>
          </p:cNvPr>
          <p:cNvSpPr txBox="1"/>
          <p:nvPr/>
        </p:nvSpPr>
        <p:spPr>
          <a:xfrm>
            <a:off x="3733800" y="2133600"/>
            <a:ext cx="317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Memilih spesifikasi (BVARX: 48 kombinasi; BMA: 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9FF35-15EA-69DD-0D5C-B26C7495AD88}"/>
              </a:ext>
            </a:extLst>
          </p:cNvPr>
          <p:cNvSpPr txBox="1"/>
          <p:nvPr/>
        </p:nvSpPr>
        <p:spPr>
          <a:xfrm>
            <a:off x="6908800" y="2133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Hanya menilai akurasi (26 forecast per horizon)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BF3E9-6270-AEA4-E1C1-9E2B0C178545}"/>
              </a:ext>
            </a:extLst>
          </p:cNvPr>
          <p:cNvSpPr txBox="1"/>
          <p:nvPr/>
        </p:nvSpPr>
        <p:spPr>
          <a:xfrm>
            <a:off x="9829800" y="2133600"/>
            <a:ext cx="180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Anchor Sep 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303073-1DA5-53EC-37A0-7ED86176ABAE}"/>
              </a:ext>
            </a:extLst>
          </p:cNvPr>
          <p:cNvCxnSpPr/>
          <p:nvPr/>
        </p:nvCxnSpPr>
        <p:spPr>
          <a:xfrm>
            <a:off x="558800" y="2692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7B1F0E-D7A2-11F1-4850-C1C423217270}"/>
              </a:ext>
            </a:extLst>
          </p:cNvPr>
          <p:cNvSpPr txBox="1"/>
          <p:nvPr/>
        </p:nvSpPr>
        <p:spPr>
          <a:xfrm>
            <a:off x="558800" y="2794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784FD-546F-3A40-AFE3-DA42262D1CB2}"/>
              </a:ext>
            </a:extLst>
          </p:cNvPr>
          <p:cNvSpPr txBox="1"/>
          <p:nvPr/>
        </p:nvSpPr>
        <p:spPr>
          <a:xfrm>
            <a:off x="1346200" y="28067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Expanding window di setiap origin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Model diestimasi ulang dengan data s.d. origin; data makro s.d. origin − 2 (jeda rilis).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412B2C-34F6-CD7C-DAC3-A34A8095B90A}"/>
              </a:ext>
            </a:extLst>
          </p:cNvPr>
          <p:cNvCxnSpPr/>
          <p:nvPr/>
        </p:nvCxnSpPr>
        <p:spPr>
          <a:xfrm>
            <a:off x="558800" y="3581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D1CCAF-C344-7193-D746-CEA0F6766563}"/>
              </a:ext>
            </a:extLst>
          </p:cNvPr>
          <p:cNvSpPr txBox="1"/>
          <p:nvPr/>
        </p:nvSpPr>
        <p:spPr>
          <a:xfrm>
            <a:off x="558800" y="3683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C63DA-9EB8-93F5-7993-921A93813C01}"/>
              </a:ext>
            </a:extLst>
          </p:cNvPr>
          <p:cNvSpPr txBox="1"/>
          <p:nvPr/>
        </p:nvSpPr>
        <p:spPr>
          <a:xfrm>
            <a:off x="1346200" y="36957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Benchmark: random walk tanpa drift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Ukuran: relative RMSE, arah perubahan, coverage interval 80% dan 95%.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276988-61B6-B890-31CC-84BC817F2789}"/>
              </a:ext>
            </a:extLst>
          </p:cNvPr>
          <p:cNvCxnSpPr/>
          <p:nvPr/>
        </p:nvCxnSpPr>
        <p:spPr>
          <a:xfrm>
            <a:off x="558800" y="4470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012F0B-9F3F-B526-6379-1434B1C0E046}"/>
              </a:ext>
            </a:extLst>
          </p:cNvPr>
          <p:cNvSpPr txBox="1"/>
          <p:nvPr/>
        </p:nvSpPr>
        <p:spPr>
          <a:xfrm>
            <a:off x="558800" y="4572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015D36-9A25-BA7A-A199-01FEADB9848A}"/>
              </a:ext>
            </a:extLst>
          </p:cNvPr>
          <p:cNvSpPr txBox="1"/>
          <p:nvPr/>
        </p:nvSpPr>
        <p:spPr>
          <a:xfrm>
            <a:off x="1346200" y="45847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Uji statistik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Clark-West (model bersarang) dan Diebold-Mariano dengan koreksi HLN; varians Newey-West lag h − 1.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45F68D-5E3D-EE31-0F00-ADACD8A66FF4}"/>
              </a:ext>
            </a:extLst>
          </p:cNvPr>
          <p:cNvCxnSpPr/>
          <p:nvPr/>
        </p:nvCxnSpPr>
        <p:spPr>
          <a:xfrm>
            <a:off x="558800" y="5359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39E057-7E8B-F8B3-4C6E-2FD799C2DB47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15F6CC-8931-7133-B640-86F20D9707C6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Horizon 1, 3, dan 6 bulan. Data latest vintage, sehingga backtest bersifat pseudo-real-time.</a:t>
            </a:r>
          </a:p>
        </p:txBody>
      </p:sp>
    </p:spTree>
    <p:extLst>
      <p:ext uri="{BB962C8B-B14F-4D97-AF65-F5344CB8AC3E}">
        <p14:creationId xmlns:p14="http://schemas.microsoft.com/office/powerpoint/2010/main" val="3624426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8E26-64C0-9234-1344-4E097F7E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Baseline BMA lebih akurat dari random walk; signifikan di horizon 6 bulan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26CED9-A565-F13D-75E3-BBF0702F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73400"/>
              </p:ext>
            </p:extLst>
          </p:nvPr>
        </p:nvGraphicFramePr>
        <p:xfrm>
          <a:off x="558800" y="1333500"/>
          <a:ext cx="6413500" cy="162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6887764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7176013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092602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87754343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40316907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39050305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Horizon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Rel. RMSE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Clark-West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DM p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Arah benar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Coverage 80%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28177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 bulan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0,23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0,71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62%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0,92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90179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3 bulan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0,35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73%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5654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6 bulan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0,02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0,29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77%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15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0,81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429644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1833F4-C040-45E5-504F-8EDE11A8081A}"/>
              </a:ext>
            </a:extLst>
          </p:cNvPr>
          <p:cNvCxnSpPr/>
          <p:nvPr/>
        </p:nvCxnSpPr>
        <p:spPr>
          <a:xfrm>
            <a:off x="558800" y="3048000"/>
            <a:ext cx="64135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0C35D7-D1DF-7095-D72F-3B59305EFF46}"/>
              </a:ext>
            </a:extLst>
          </p:cNvPr>
          <p:cNvSpPr txBox="1"/>
          <p:nvPr/>
        </p:nvSpPr>
        <p:spPr>
          <a:xfrm>
            <a:off x="558800" y="3149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739DC-0DB8-4351-C764-23216FADC17C}"/>
              </a:ext>
            </a:extLst>
          </p:cNvPr>
          <p:cNvSpPr txBox="1"/>
          <p:nvPr/>
        </p:nvSpPr>
        <p:spPr>
          <a:xfrm>
            <a:off x="1346200" y="3162300"/>
            <a:ext cx="562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Rel. RMSE &lt; 1 di semua horizon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Kesalahan BMA 1–14% lebih kecil dari random walk.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2A4BA0-2231-0977-B2FD-B7B09DF5B488}"/>
              </a:ext>
            </a:extLst>
          </p:cNvPr>
          <p:cNvCxnSpPr/>
          <p:nvPr/>
        </p:nvCxnSpPr>
        <p:spPr>
          <a:xfrm>
            <a:off x="558800" y="3810000"/>
            <a:ext cx="64135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728559-E836-54F3-5839-43EF6D712502}"/>
              </a:ext>
            </a:extLst>
          </p:cNvPr>
          <p:cNvSpPr txBox="1"/>
          <p:nvPr/>
        </p:nvSpPr>
        <p:spPr>
          <a:xfrm>
            <a:off x="558800" y="391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3C562-3E35-1087-F448-DF83E4B3C981}"/>
              </a:ext>
            </a:extLst>
          </p:cNvPr>
          <p:cNvSpPr txBox="1"/>
          <p:nvPr/>
        </p:nvSpPr>
        <p:spPr>
          <a:xfrm>
            <a:off x="1346200" y="3924300"/>
            <a:ext cx="562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it-IT" sz="1300" b="1">
                <a:solidFill>
                  <a:srgbClr val="000000"/>
                </a:solidFill>
                <a:latin typeface="Arial" panose="020B0604020202020204" pitchFamily="34" charset="0"/>
              </a:rPr>
              <a:t>Clark-West: signifikan di 6 bulan (5%)</a:t>
            </a:r>
          </a:p>
          <a:p>
            <a:pPr>
              <a:spcAft>
                <a:spcPts val="200"/>
              </a:spcAft>
            </a:pPr>
            <a:r>
              <a:rPr lang="it-IT" sz="1100">
                <a:solidFill>
                  <a:srgbClr val="262626"/>
                </a:solidFill>
                <a:latin typeface="Arial" panose="020B0604020202020204" pitchFamily="34" charset="0"/>
              </a:rPr>
              <a:t>Lemah di 3 bulan (10%); belum terbukti di 1 bulan.</a:t>
            </a:r>
            <a:endParaRPr lang="en-ID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573001-69FC-2150-FA07-31FC05070A4A}"/>
              </a:ext>
            </a:extLst>
          </p:cNvPr>
          <p:cNvCxnSpPr/>
          <p:nvPr/>
        </p:nvCxnSpPr>
        <p:spPr>
          <a:xfrm>
            <a:off x="558800" y="4572000"/>
            <a:ext cx="64135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4C4E45-0295-C908-C06F-A05CCBFBE50B}"/>
              </a:ext>
            </a:extLst>
          </p:cNvPr>
          <p:cNvSpPr txBox="1"/>
          <p:nvPr/>
        </p:nvSpPr>
        <p:spPr>
          <a:xfrm>
            <a:off x="558800" y="467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AF3A5-C5FB-64B3-4132-C9351ADCC8BF}"/>
              </a:ext>
            </a:extLst>
          </p:cNvPr>
          <p:cNvSpPr txBox="1"/>
          <p:nvPr/>
        </p:nvSpPr>
        <p:spPr>
          <a:xfrm>
            <a:off x="1346200" y="4686300"/>
            <a:ext cx="562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Coverage mendekati 80%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Rentang forecast terkalibrasi wajar.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0EBE7F-696E-67CB-18AA-FCB9F46BABD3}"/>
              </a:ext>
            </a:extLst>
          </p:cNvPr>
          <p:cNvCxnSpPr/>
          <p:nvPr/>
        </p:nvCxnSpPr>
        <p:spPr>
          <a:xfrm>
            <a:off x="558800" y="5334000"/>
            <a:ext cx="64135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2199A34-A28C-84F7-922A-B30BA9CD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124731"/>
            <a:ext cx="4394200" cy="399187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288756-2232-646D-9FB3-821577F0D1D8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B6AA70-8764-014A-05A1-2253917FEFD1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Test: origin Jan 2024–Feb 2026, 26 forecast per horizon. DM tidak signifikan, wajar untuk sampel sekecil ini; Clark-West lebih tepat untuk model bersarang.</a:t>
            </a:r>
          </a:p>
        </p:txBody>
      </p:sp>
    </p:spTree>
    <p:extLst>
      <p:ext uri="{BB962C8B-B14F-4D97-AF65-F5344CB8AC3E}">
        <p14:creationId xmlns:p14="http://schemas.microsoft.com/office/powerpoint/2010/main" val="3428003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C406-953C-3D7B-7AD0-D0E05875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Backtest 2024–2026: BMA mengikuti tren depresiasi, random walk tertinggal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70075-762A-ACCF-81F8-62A97758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671320"/>
            <a:ext cx="5435600" cy="3261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D1BC4-5EF9-6D84-EF82-DCF3DDF45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671320"/>
            <a:ext cx="5435600" cy="32613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9B9A16-F452-8E28-67BB-97FD29696C8B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C70E48-69D9-FFEF-7707-D08534F2264A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Kiri: horizon 3 bulan; kanan: horizon 6 bulan. Band = rentang 80% BMA. Garis putus-putus = random walk tanpa drift.</a:t>
            </a:r>
          </a:p>
        </p:txBody>
      </p:sp>
    </p:spTree>
    <p:extLst>
      <p:ext uri="{BB962C8B-B14F-4D97-AF65-F5344CB8AC3E}">
        <p14:creationId xmlns:p14="http://schemas.microsoft.com/office/powerpoint/2010/main" val="916712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B3CC-6142-3C29-07AB-ADF4C2CE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BMA unggul di periode test; BVARX unggul di validation tetapi kalah dari random walk di test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E7FB5C-A1C9-0190-4DA8-416C86AE8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8566"/>
              </p:ext>
            </p:extLst>
          </p:nvPr>
        </p:nvGraphicFramePr>
        <p:xfrm>
          <a:off x="558800" y="1333500"/>
          <a:ext cx="11074400" cy="172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19663964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768285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0453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31974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456190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590755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7330595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92584042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Val h=1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Val h=3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Val h=6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Test h=1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Test h=3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Test h=6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Rata-rata 2 periode</a:t>
                      </a:r>
                    </a:p>
                  </a:txBody>
                  <a:tcPr marL="50800" marR="50800" marT="25400" marB="25400" anchor="ctr">
                    <a:lnB w="12700">
                      <a:solidFill>
                        <a:srgbClr val="4040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57547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BMA (baseline)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0,98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0,99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0,94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0,86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1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0,950</a:t>
                      </a:r>
                    </a:p>
                  </a:txBody>
                  <a:tcPr marL="50800" marR="50800" marT="25400" marB="25400" anchor="ctr"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4311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BVARX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0,87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1,05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1,04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0,98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0,976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2456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Random walk tanpa drift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D" sz="1200" b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1,000</a:t>
                      </a:r>
                    </a:p>
                  </a:txBody>
                  <a:tcPr marL="50800" marR="50800" marT="25400" marB="25400" anchor="ctr"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451240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1300C4-569D-C344-CC94-B1809B40F407}"/>
              </a:ext>
            </a:extLst>
          </p:cNvPr>
          <p:cNvCxnSpPr/>
          <p:nvPr/>
        </p:nvCxnSpPr>
        <p:spPr>
          <a:xfrm>
            <a:off x="558800" y="3302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C7117A-71C9-3DD8-8097-E3873D6571C5}"/>
              </a:ext>
            </a:extLst>
          </p:cNvPr>
          <p:cNvSpPr txBox="1"/>
          <p:nvPr/>
        </p:nvSpPr>
        <p:spPr>
          <a:xfrm>
            <a:off x="558800" y="3403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F7357-F8C5-6A97-34F6-69F4AB94C3AA}"/>
              </a:ext>
            </a:extLst>
          </p:cNvPr>
          <p:cNvSpPr txBox="1"/>
          <p:nvPr/>
        </p:nvSpPr>
        <p:spPr>
          <a:xfrm>
            <a:off x="1346200" y="3416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BMA paling konsisten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Lebih akurat dari random walk di keenam kombinasi periode × horizon.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3DDBE-4BDD-9D4F-93F4-0418BBEA1BDB}"/>
              </a:ext>
            </a:extLst>
          </p:cNvPr>
          <p:cNvCxnSpPr/>
          <p:nvPr/>
        </p:nvCxnSpPr>
        <p:spPr>
          <a:xfrm>
            <a:off x="558800" y="4038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3335BF-A1AE-AEE0-38F5-C2B5D10E5424}"/>
              </a:ext>
            </a:extLst>
          </p:cNvPr>
          <p:cNvSpPr txBox="1"/>
          <p:nvPr/>
        </p:nvSpPr>
        <p:spPr>
          <a:xfrm>
            <a:off x="558800" y="4140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C0B15-3D9E-0FAE-D4D8-1E60EB6AFDE8}"/>
              </a:ext>
            </a:extLst>
          </p:cNvPr>
          <p:cNvSpPr txBox="1"/>
          <p:nvPr/>
        </p:nvSpPr>
        <p:spPr>
          <a:xfrm>
            <a:off x="1346200" y="41529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BVARX tidak dipakai untuk baseline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Unggul di validation, tetapi kalah dari random walk di test untuk h = 1 dan 3.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75D3AC-E2AF-2ADD-3A7C-1EFA756DCDCA}"/>
              </a:ext>
            </a:extLst>
          </p:cNvPr>
          <p:cNvCxnSpPr/>
          <p:nvPr/>
        </p:nvCxnSpPr>
        <p:spPr>
          <a:xfrm>
            <a:off x="558800" y="4775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29EA9D-44C7-A9B3-0032-242D97AEBF03}"/>
              </a:ext>
            </a:extLst>
          </p:cNvPr>
          <p:cNvSpPr txBox="1"/>
          <p:nvPr/>
        </p:nvSpPr>
        <p:spPr>
          <a:xfrm>
            <a:off x="558800" y="48768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07AA0-63E7-F52E-A75A-BD2E0B01F410}"/>
              </a:ext>
            </a:extLst>
          </p:cNvPr>
          <p:cNvSpPr txBox="1"/>
          <p:nvPr/>
        </p:nvSpPr>
        <p:spPr>
          <a:xfrm>
            <a:off x="1346200" y="48895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Perbedaan kecil, sesuai literatur</a:t>
            </a:r>
          </a:p>
          <a:p>
            <a:pPr>
              <a:spcAft>
                <a:spcPts val="200"/>
              </a:spcAft>
            </a:pPr>
            <a:r>
              <a:rPr lang="en-ID" sz="1100">
                <a:solidFill>
                  <a:srgbClr val="262626"/>
                </a:solidFill>
                <a:latin typeface="Arial" panose="020B0604020202020204" pitchFamily="34" charset="0"/>
              </a:rPr>
              <a:t>Selisih 2–14% dari random walk; konsisten dengan Meese-Rogoff dan Rossi (2013).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92B2E2-A00A-BE26-1210-EBD61474233A}"/>
              </a:ext>
            </a:extLst>
          </p:cNvPr>
          <p:cNvCxnSpPr/>
          <p:nvPr/>
        </p:nvCxnSpPr>
        <p:spPr>
          <a:xfrm>
            <a:off x="558800" y="5511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115A1D-151E-5D32-A019-934CBA5CCC81}"/>
              </a:ext>
            </a:extLst>
          </p:cNvPr>
          <p:cNvCxnSpPr/>
          <p:nvPr/>
        </p:nvCxnSpPr>
        <p:spPr>
          <a:xfrm>
            <a:off x="558800" y="5486400"/>
            <a:ext cx="11074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3513753-BDAA-48EF-673E-537AE517D569}"/>
              </a:ext>
            </a:extLst>
          </p:cNvPr>
          <p:cNvSpPr txBox="1"/>
          <p:nvPr/>
        </p:nvSpPr>
        <p:spPr>
          <a:xfrm>
            <a:off x="558800" y="55626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050">
                <a:solidFill>
                  <a:srgbClr val="262626"/>
                </a:solidFill>
                <a:latin typeface="Arial" panose="020B0604020202020204" pitchFamily="34" charset="0"/>
              </a:rPr>
              <a:t>Angka = relative RMSE vs random walk tanpa drift (di bawah 1 = lebih akurat). Validation: origin 2021–2023; test: origin 2024–2026.</a:t>
            </a:r>
          </a:p>
        </p:txBody>
      </p:sp>
    </p:spTree>
    <p:extLst>
      <p:ext uri="{BB962C8B-B14F-4D97-AF65-F5344CB8AC3E}">
        <p14:creationId xmlns:p14="http://schemas.microsoft.com/office/powerpoint/2010/main" val="1459394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4392-1DBF-A098-2343-9E8D5D0B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Keterbatasan yang perlu dicantumkan saat hasil dipakai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144842-A2C1-0C19-B226-42AC879E5F0E}"/>
              </a:ext>
            </a:extLst>
          </p:cNvPr>
          <p:cNvCxnSpPr/>
          <p:nvPr/>
        </p:nvCxnSpPr>
        <p:spPr>
          <a:xfrm>
            <a:off x="558800" y="1270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2EC191-112E-060A-3982-4C8DB810E9C5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B737E-1909-A9BC-ECC8-C88E14B4D721}"/>
              </a:ext>
            </a:extLst>
          </p:cNvPr>
          <p:cNvSpPr txBox="1"/>
          <p:nvPr/>
        </p:nvSpPr>
        <p:spPr>
          <a:xfrm>
            <a:off x="1346200" y="1384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Periode test ikut memengaruhi desain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Pilihan changes, dummy, BMA, dan cara menyusun skenario diambil setelah melihat test; bukti bersih datang dari data baru.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B0C6BD-A146-8285-B478-06E88C19E677}"/>
              </a:ext>
            </a:extLst>
          </p:cNvPr>
          <p:cNvCxnSpPr/>
          <p:nvPr/>
        </p:nvCxnSpPr>
        <p:spPr>
          <a:xfrm>
            <a:off x="558800" y="2108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F1499B-D045-0688-9F7D-DA7AE99D08D2}"/>
              </a:ext>
            </a:extLst>
          </p:cNvPr>
          <p:cNvSpPr txBox="1"/>
          <p:nvPr/>
        </p:nvSpPr>
        <p:spPr>
          <a:xfrm>
            <a:off x="558800" y="22098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96029-CD01-82C3-943F-D114C954B78A}"/>
              </a:ext>
            </a:extLst>
          </p:cNvPr>
          <p:cNvSpPr txBox="1"/>
          <p:nvPr/>
        </p:nvSpPr>
        <p:spPr>
          <a:xfrm>
            <a:off x="1346200" y="22225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Keunggulan BMA terutama dari drift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PIP sekitar 0,5 dan koefisien di-shrink 80%; baseline akan tertinggal bila tren rupiah berbalik.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787D36-325A-CA32-83E9-C54A9DC16065}"/>
              </a:ext>
            </a:extLst>
          </p:cNvPr>
          <p:cNvCxnSpPr/>
          <p:nvPr/>
        </p:nvCxnSpPr>
        <p:spPr>
          <a:xfrm>
            <a:off x="558800" y="2946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2842C2-F889-93A4-7525-6A660210F6BD}"/>
              </a:ext>
            </a:extLst>
          </p:cNvPr>
          <p:cNvSpPr txBox="1"/>
          <p:nvPr/>
        </p:nvSpPr>
        <p:spPr>
          <a:xfrm>
            <a:off x="558800" y="3048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DADAA-E60F-FBAA-52FE-2B01CC1B6E4D}"/>
              </a:ext>
            </a:extLst>
          </p:cNvPr>
          <p:cNvSpPr txBox="1"/>
          <p:nvPr/>
        </p:nvSpPr>
        <p:spPr>
          <a:xfrm>
            <a:off x="1346200" y="30607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Skenario adalah overlay dua model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Rentang skenario hanya menggeser rentang BMA, tanpa ketidakpastian dari jalur skenario.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968290-A5D7-CC27-F571-4A252B8B015A}"/>
              </a:ext>
            </a:extLst>
          </p:cNvPr>
          <p:cNvCxnSpPr/>
          <p:nvPr/>
        </p:nvCxnSpPr>
        <p:spPr>
          <a:xfrm>
            <a:off x="558800" y="37846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EB0AFC-525D-B17A-FA2B-7493B8E138AB}"/>
              </a:ext>
            </a:extLst>
          </p:cNvPr>
          <p:cNvSpPr txBox="1"/>
          <p:nvPr/>
        </p:nvSpPr>
        <p:spPr>
          <a:xfrm>
            <a:off x="558800" y="38862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C3E90-CE57-2BCE-07F9-01FF0D313817}"/>
              </a:ext>
            </a:extLst>
          </p:cNvPr>
          <p:cNvSpPr txBox="1"/>
          <p:nvPr/>
        </p:nvSpPr>
        <p:spPr>
          <a:xfrm>
            <a:off x="1346200" y="38989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Besaran shock belum dikalibrasi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Severe Adverse setara persentil 80–85 historis, belum p90–95.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92CBDE-F0B0-9D92-892D-63EC2940C0DC}"/>
              </a:ext>
            </a:extLst>
          </p:cNvPr>
          <p:cNvCxnSpPr/>
          <p:nvPr/>
        </p:nvCxnSpPr>
        <p:spPr>
          <a:xfrm>
            <a:off x="558800" y="4622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4FF265-4BAE-4E8C-7C50-C3284E1727AA}"/>
              </a:ext>
            </a:extLst>
          </p:cNvPr>
          <p:cNvSpPr txBox="1"/>
          <p:nvPr/>
        </p:nvSpPr>
        <p:spPr>
          <a:xfrm>
            <a:off x="558800" y="47244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0BA8A-B25C-2BC9-E2C7-36D0596FF81A}"/>
              </a:ext>
            </a:extLst>
          </p:cNvPr>
          <p:cNvSpPr txBox="1"/>
          <p:nvPr/>
        </p:nvSpPr>
        <p:spPr>
          <a:xfrm>
            <a:off x="1346200" y="47371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400" b="1">
                <a:solidFill>
                  <a:srgbClr val="000000"/>
                </a:solidFill>
                <a:latin typeface="Arial" panose="020B0604020202020204" pitchFamily="34" charset="0"/>
              </a:rPr>
              <a:t>Data dan asumsi lain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Latest vintage; DXY baseline datar; residual TB dan flows BVARX masih berautokorelasi.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060AA0-8CDD-5014-87E7-427FF19B04CE}"/>
              </a:ext>
            </a:extLst>
          </p:cNvPr>
          <p:cNvCxnSpPr/>
          <p:nvPr/>
        </p:nvCxnSpPr>
        <p:spPr>
          <a:xfrm>
            <a:off x="558800" y="5461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464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3242-F227-B7A3-C83A-68155AAF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Kesimpulan dan langkah berikutnya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CEF6FE-8536-A352-F4F3-BB6D14723E7A}"/>
              </a:ext>
            </a:extLst>
          </p:cNvPr>
          <p:cNvCxnSpPr/>
          <p:nvPr/>
        </p:nvCxnSpPr>
        <p:spPr>
          <a:xfrm>
            <a:off x="558800" y="12700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D7E7F2-A9D9-789D-010F-2577D1146F56}"/>
              </a:ext>
            </a:extLst>
          </p:cNvPr>
          <p:cNvSpPr txBox="1"/>
          <p:nvPr/>
        </p:nvSpPr>
        <p:spPr>
          <a:xfrm>
            <a:off x="558800" y="13716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B425D-1B45-72B4-B433-C9D2C852E9D9}"/>
              </a:ext>
            </a:extLst>
          </p:cNvPr>
          <p:cNvSpPr txBox="1"/>
          <p:nvPr/>
        </p:nvSpPr>
        <p:spPr>
          <a:xfrm>
            <a:off x="1346200" y="13843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Baseline: rupiah ±18.196 pada Mar 2027 (+1,8%)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BMA lebih akurat dari random walk, signifikan di 6 bulan, dan rentangnya terkalibrasi.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BE419D-4882-546B-01B3-575412D783FE}"/>
              </a:ext>
            </a:extLst>
          </p:cNvPr>
          <p:cNvCxnSpPr/>
          <p:nvPr/>
        </p:nvCxnSpPr>
        <p:spPr>
          <a:xfrm>
            <a:off x="558800" y="21844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4B8E6B-07D9-5486-B8BE-E68D1A882F49}"/>
              </a:ext>
            </a:extLst>
          </p:cNvPr>
          <p:cNvSpPr txBox="1"/>
          <p:nvPr/>
        </p:nvSpPr>
        <p:spPr>
          <a:xfrm>
            <a:off x="558800" y="22860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E1782-034B-13F8-CAD7-88F60165E656}"/>
              </a:ext>
            </a:extLst>
          </p:cNvPr>
          <p:cNvSpPr txBox="1"/>
          <p:nvPr/>
        </p:nvSpPr>
        <p:spPr>
          <a:xfrm>
            <a:off x="1346200" y="22987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Risiko condong ke depresiasi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Adverse 18.465 dan Severe Adverse 18.935; kanal utama: dolar global dan arus modal asing.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95D547-7D5E-23F7-E1BA-150109F76845}"/>
              </a:ext>
            </a:extLst>
          </p:cNvPr>
          <p:cNvCxnSpPr/>
          <p:nvPr/>
        </p:nvCxnSpPr>
        <p:spPr>
          <a:xfrm>
            <a:off x="558800" y="30988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B30B9D-8D99-1C43-5F9D-C49FCFA9D556}"/>
              </a:ext>
            </a:extLst>
          </p:cNvPr>
          <p:cNvSpPr txBox="1"/>
          <p:nvPr/>
        </p:nvSpPr>
        <p:spPr>
          <a:xfrm>
            <a:off x="558800" y="32004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2400" b="1">
                <a:solidFill>
                  <a:srgbClr val="A5644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11E6B-9348-522E-AE77-DC7FB98C424C}"/>
              </a:ext>
            </a:extLst>
          </p:cNvPr>
          <p:cNvSpPr txBox="1"/>
          <p:nvPr/>
        </p:nvSpPr>
        <p:spPr>
          <a:xfrm>
            <a:off x="1346200" y="32131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ID" sz="1500" b="1">
                <a:solidFill>
                  <a:srgbClr val="000000"/>
                </a:solidFill>
                <a:latin typeface="Arial" panose="020B0604020202020204" pitchFamily="34" charset="0"/>
              </a:rPr>
              <a:t>Model layak untuk forecast operasional dan skenario</a:t>
            </a:r>
          </a:p>
          <a:p>
            <a:pPr>
              <a:spcAft>
                <a:spcPts val="200"/>
              </a:spcAft>
            </a:pPr>
            <a:r>
              <a:rPr lang="en-ID" sz="1200">
                <a:solidFill>
                  <a:srgbClr val="262626"/>
                </a:solidFill>
                <a:latin typeface="Arial" panose="020B0604020202020204" pitchFamily="34" charset="0"/>
              </a:rPr>
              <a:t>Selama keterbatasan dicantumkan, terutama sumber akurasi (drift) dan besaran shock.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157248-73CA-B80D-00BC-3BD5DCD77360}"/>
              </a:ext>
            </a:extLst>
          </p:cNvPr>
          <p:cNvCxnSpPr/>
          <p:nvPr/>
        </p:nvCxnSpPr>
        <p:spPr>
          <a:xfrm>
            <a:off x="558800" y="4013200"/>
            <a:ext cx="110744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12EE9-2343-B068-0EEE-992E686B8308}"/>
              </a:ext>
            </a:extLst>
          </p:cNvPr>
          <p:cNvSpPr/>
          <p:nvPr/>
        </p:nvSpPr>
        <p:spPr>
          <a:xfrm>
            <a:off x="558800" y="4191000"/>
            <a:ext cx="11074400" cy="1143000"/>
          </a:xfrm>
          <a:prstGeom prst="rect">
            <a:avLst/>
          </a:prstGeom>
          <a:solidFill>
            <a:srgbClr val="F3E9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>
              <a:spcAft>
                <a:spcPts val="200"/>
              </a:spcAft>
            </a:pPr>
            <a:r>
              <a:rPr lang="en-ID" sz="1300" b="1">
                <a:solidFill>
                  <a:srgbClr val="000000"/>
                </a:solidFill>
                <a:latin typeface="Arial" panose="020B0604020202020204" pitchFamily="34" charset="0"/>
              </a:rPr>
              <a:t>Langkah berikutnya</a:t>
            </a:r>
          </a:p>
          <a:p>
            <a:pPr>
              <a:spcAft>
                <a:spcPts val="200"/>
              </a:spcAft>
            </a:pPr>
            <a:r>
              <a:rPr lang="en-ID" sz="1150">
                <a:solidFill>
                  <a:srgbClr val="262626"/>
                </a:solidFill>
                <a:latin typeface="Arial" panose="020B0604020202020204" pitchFamily="34" charset="0"/>
              </a:rPr>
              <a:t>1) Kalibrasi skenario ke persentil historis (Adverse ≈ p75, Severe Adverse ≈ p90–95).  2) Bekukan spesifikasi dan evaluasi setiap bulan saat data Okt 2026 dst. masuk.  3) Ganti jalur DXY baseline datar dengan konsensus atau forward.</a:t>
            </a:r>
          </a:p>
        </p:txBody>
      </p:sp>
    </p:spTree>
    <p:extLst>
      <p:ext uri="{BB962C8B-B14F-4D97-AF65-F5344CB8AC3E}">
        <p14:creationId xmlns:p14="http://schemas.microsoft.com/office/powerpoint/2010/main" val="4101407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40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4_D2 Marves_Neww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2 Marves_Neww" id="{CF5C51F7-01E3-1843-B95E-A88F43F3C614}" vid="{1FC0152F-43D8-474F-AC19-D2321C15A7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822936-2FBA-4AED-B054-163529BB535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62713f8-fbef-4e9c-97c0-f4706022a32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4865</Words>
  <Application>Microsoft Office PowerPoint</Application>
  <PresentationFormat>Widescreen</PresentationFormat>
  <Paragraphs>911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Arial Nova</vt:lpstr>
      <vt:lpstr>Calibri</vt:lpstr>
      <vt:lpstr>Calibri Light</vt:lpstr>
      <vt:lpstr>4_D2 Marves_Neww</vt:lpstr>
      <vt:lpstr>Simulasi Rupiah Forecast dan Skenario USD/IDR</vt:lpstr>
      <vt:lpstr>Outline</vt:lpstr>
      <vt:lpstr>Rupiah diproyeksikan melemah ke ±18.200 pada Mar 2027; skenario berat mendekati 18.900</vt:lpstr>
      <vt:lpstr>PowerPoint Presentation</vt:lpstr>
      <vt:lpstr>Dua model, dua peran: BMA menghasilkan baseline, BVARX menghitung efek skenario</vt:lpstr>
      <vt:lpstr>Alur perhitungan: delapan langkah dari impor data sampai forecast per skenario</vt:lpstr>
      <vt:lpstr>Mengapa dua model: BMA paling akurat, BVARX menjawab "bagaimana jika"</vt:lpstr>
      <vt:lpstr>PowerPoint Presentation</vt:lpstr>
      <vt:lpstr>Data bulanan Jan 2013–Sep 2026 (165 bulan); data makro dipakai dengan jeda rilis 2 bulan</vt:lpstr>
      <vt:lpstr>Literatur (1): kurs sulit diprediksi; benchmark dan uji out-of-sample jadi kunci</vt:lpstr>
      <vt:lpstr>Literatur (2): BMA dan uji akurasi forecast</vt:lpstr>
      <vt:lpstr>Unit root: cadangan dan DXY nonstasioner di level; semua stasioner dalam perubahan</vt:lpstr>
      <vt:lpstr>PowerPoint Presentation</vt:lpstr>
      <vt:lpstr>BMA: daripada memilih satu model, rata-ratakan semua kombinasi prediktor sesuai bukti data</vt:lpstr>
      <vt:lpstr>Spesifikasi BMA: perubahan kurs h bulan ke depan dari informasi saat forecast</vt:lpstr>
      <vt:lpstr>Prior: g-prior dengan shrinkage kuat (g = 0,25) terpilih di validation</vt:lpstr>
      <vt:lpstr>Tidak ada prediktor dominan: PIP berkisar 0,45–0,70 dan bobot model tersebar</vt:lpstr>
      <vt:lpstr>Forecast BMA: drift ±0,3% per bulan membawa rupiah ke 18.196 pada Mar 2027</vt:lpstr>
      <vt:lpstr>PowerPoint Presentation</vt:lpstr>
      <vt:lpstr>BVARX: sistem empat variabel diramal bersama, lalu dikondisikan pada jalur skenario</vt:lpstr>
      <vt:lpstr>Spesifikasi dan prior BVARX dipilih di validation dari 48 kombinasi</vt:lpstr>
      <vt:lpstr>Skenario dihitung dengan mengunci jalur DXY, TB, dan flows (Waggoner &amp; Zha, 1999)</vt:lpstr>
      <vt:lpstr>Diagnostik BVARX: persamaan kurs bersih; trade balance dan flows masih berautokorelasi</vt:lpstr>
      <vt:lpstr>Asumsi skenario: Adverse dan Severe Adverse menekan dolar, neraca dagang, dan arus modal</vt:lpstr>
      <vt:lpstr>Efek skenario BVARX: Severe Adverse menggeser kurs +4,1% di atas baseline (Mar-27)</vt:lpstr>
      <vt:lpstr>PowerPoint Presentation</vt:lpstr>
      <vt:lpstr>Penggabungan: baseline BMA digeser sebesar efek skenario dari BVARX</vt:lpstr>
      <vt:lpstr>Rupiah melemah bertahap di semua skenario kecuali Upside; Severe Adverse mendekati 18.900</vt:lpstr>
      <vt:lpstr>Forecast bulanan per skenario: median dan rentang 80%</vt:lpstr>
      <vt:lpstr>Ringkasan skenario: asumsi makro dan hasil USD/IDR</vt:lpstr>
      <vt:lpstr>Baseline BMA sedikit di atas BVARX; keduanya di atas random walk yang datar</vt:lpstr>
      <vt:lpstr>PowerPoint Presentation</vt:lpstr>
      <vt:lpstr>Desain evaluasi: spesifikasi dipilih di validation, akurasi dinilai di test, tanpa data masa depan</vt:lpstr>
      <vt:lpstr>Baseline BMA lebih akurat dari random walk; signifikan di horizon 6 bulan</vt:lpstr>
      <vt:lpstr>Backtest 2024–2026: BMA mengikuti tren depresiasi, random walk tertinggal</vt:lpstr>
      <vt:lpstr>BMA unggul di periode test; BVARX unggul di validation tetapi kalah dari random walk di test</vt:lpstr>
      <vt:lpstr>Keterbatasan yang perlu dicantumkan saat hasil dipakai</vt:lpstr>
      <vt:lpstr>Kesimpulan dan langkah berikutnya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Kurniawati Yuli Ashari</dc:creator>
  <cp:lastModifiedBy>Muhamad Haikal</cp:lastModifiedBy>
  <cp:revision>36</cp:revision>
  <dcterms:created xsi:type="dcterms:W3CDTF">2026-10-01T00:21:08Z</dcterms:created>
  <dcterms:modified xsi:type="dcterms:W3CDTF">2026-10-30T12:19:09Z</dcterms:modified>
</cp:coreProperties>
</file>